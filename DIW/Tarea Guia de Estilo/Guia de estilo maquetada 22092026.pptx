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sldIdLst>
    <p:sldId id="256" r:id="rId2"/>
    <p:sldId id="257" r:id="rId3"/>
    <p:sldId id="258" r:id="rId4"/>
    <p:sldId id="260" r:id="rId5"/>
    <p:sldId id="261" r:id="rId6"/>
    <p:sldId id="263" r:id="rId7"/>
    <p:sldId id="264" r:id="rId8"/>
    <p:sldId id="265" r:id="rId9"/>
    <p:sldId id="268" r:id="rId10"/>
    <p:sldId id="267" r:id="rId11"/>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2C3C"/>
    <a:srgbClr val="BBBBBB"/>
    <a:srgbClr val="FC5A34"/>
    <a:srgbClr val="F7F7F7"/>
    <a:srgbClr val="7F7F7F"/>
    <a:srgbClr val="B1C9D3"/>
    <a:srgbClr val="82A6BC"/>
    <a:srgbClr val="F9D9AA"/>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73" y="29"/>
      </p:cViewPr>
      <p:guideLst>
        <p:guide orient="horz" pos="384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039CA-082B-43B3-87FE-CD8B87ED80EC}" type="datetimeFigureOut">
              <a:rPr lang="es-ES" smtClean="0"/>
              <a:t>22/09/2026</a:t>
            </a:fld>
            <a:endParaRPr lang="es-ES"/>
          </a:p>
        </p:txBody>
      </p:sp>
      <p:sp>
        <p:nvSpPr>
          <p:cNvPr id="4" name="Marcador de imagen de diapositiva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38A-497E-4430-BCB6-23694AD1B7A5}" type="slidenum">
              <a:rPr lang="es-ES" smtClean="0"/>
              <a:t>‹Nº›</a:t>
            </a:fld>
            <a:endParaRPr lang="es-ES"/>
          </a:p>
        </p:txBody>
      </p:sp>
    </p:spTree>
    <p:extLst>
      <p:ext uri="{BB962C8B-B14F-4D97-AF65-F5344CB8AC3E}">
        <p14:creationId xmlns:p14="http://schemas.microsoft.com/office/powerpoint/2010/main" val="403239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09632-B7DE-10F2-1976-91EBA65149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E87540-801E-25BE-320F-FE3B2DD4E2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C2C300-249A-D225-0003-0D52E5CA4FA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4F2EF14-3458-0D50-AF74-0E8B3C30A806}"/>
              </a:ext>
            </a:extLst>
          </p:cNvPr>
          <p:cNvSpPr>
            <a:spLocks noGrp="1"/>
          </p:cNvSpPr>
          <p:nvPr>
            <p:ph type="sldNum" sz="quarter" idx="5"/>
          </p:nvPr>
        </p:nvSpPr>
        <p:spPr/>
        <p:txBody>
          <a:bodyPr/>
          <a:lstStyle/>
          <a:p>
            <a:fld id="{259D338A-497E-4430-BCB6-23694AD1B7A5}" type="slidenum">
              <a:rPr lang="es-ES" smtClean="0"/>
              <a:t>9</a:t>
            </a:fld>
            <a:endParaRPr lang="es-ES"/>
          </a:p>
        </p:txBody>
      </p:sp>
    </p:spTree>
    <p:extLst>
      <p:ext uri="{BB962C8B-B14F-4D97-AF65-F5344CB8AC3E}">
        <p14:creationId xmlns:p14="http://schemas.microsoft.com/office/powerpoint/2010/main" val="2142837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5C854B8-8BF1-43FB-AEEB-FBEDD20D4C1A}" type="datetime1">
              <a:rPr lang="es-ES" smtClean="0"/>
              <a:t>22/09/2026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1603201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6B813A-B18E-4B5D-9077-0CF4E7F5BCD4}" type="datetime1">
              <a:rPr lang="es-ES" smtClean="0"/>
              <a:t>22/09/2026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355688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BE1AAC2-634D-46AD-9B89-4AD0B8EF548E}" type="datetime1">
              <a:rPr lang="es-ES" smtClean="0"/>
              <a:t>22/09/2026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378917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F5CEA25-454F-4E95-9A5E-9EE0289700C7}" type="datetime1">
              <a:rPr lang="es-ES" smtClean="0"/>
              <a:t>22/09/2026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185363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472381" y="4453467"/>
            <a:ext cx="2901255" cy="65503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3471863" y="4453467"/>
            <a:ext cx="2915543" cy="65503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519124F-6802-4494-AB26-CFEF63E0D63A}" type="datetime1">
              <a:rPr lang="es-ES" smtClean="0"/>
              <a:t>22/09/2026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014683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50206C6-69DE-47C0-AEDE-EAADF13878DA}" type="datetime1">
              <a:rPr lang="es-ES" smtClean="0"/>
              <a:t>22/09/2026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018666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BB85F-222D-4790-9726-AA2E127A467E}" type="datetime1">
              <a:rPr lang="es-ES" smtClean="0"/>
              <a:t>22/09/2026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715040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00564D5-D410-44BA-94A4-2455FF830905}" type="datetime1">
              <a:rPr lang="es-ES" smtClean="0"/>
              <a:t>22/09/2026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763704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5ED689F-B8F0-4BC9-84A1-C20341E97110}" type="datetime1">
              <a:rPr lang="es-ES" smtClean="0"/>
              <a:t>22/09/2026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29775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020E93B-C60B-47F1-9368-EE28D5B54233}" type="datetime1">
              <a:rPr lang="es-ES" smtClean="0"/>
              <a:t>22/09/2026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505511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47BDD49-77CE-4200-8D5B-719ACAC1D805}" type="datetime1">
              <a:rPr lang="es-ES" smtClean="0"/>
              <a:t>22/09/2026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CDA0B52-2607-45F8-B315-1CB26DB638C1}" type="slidenum">
              <a:rPr lang="es-ES" smtClean="0"/>
              <a:t>‹Nº›</a:t>
            </a:fld>
            <a:endParaRPr lang="es-ES"/>
          </a:p>
        </p:txBody>
      </p:sp>
    </p:spTree>
    <p:extLst>
      <p:ext uri="{BB962C8B-B14F-4D97-AF65-F5344CB8AC3E}">
        <p14:creationId xmlns:p14="http://schemas.microsoft.com/office/powerpoint/2010/main" val="152349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E66C3774-7B4D-40F5-8269-AD6047A3C0CD}" type="datetime1">
              <a:rPr lang="es-ES" smtClean="0"/>
              <a:t>22/09/2026</a:t>
            </a:fld>
            <a:endParaRPr lang="es-E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E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3CDA0B52-2607-45F8-B315-1CB26DB638C1}" type="slidenum">
              <a:rPr lang="es-ES" smtClean="0"/>
              <a:t>‹Nº›</a:t>
            </a:fld>
            <a:endParaRPr lang="es-ES"/>
          </a:p>
        </p:txBody>
      </p:sp>
    </p:spTree>
    <p:extLst>
      <p:ext uri="{BB962C8B-B14F-4D97-AF65-F5344CB8AC3E}">
        <p14:creationId xmlns:p14="http://schemas.microsoft.com/office/powerpoint/2010/main" val="21121687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CCE9F8-C388-902D-9A03-8BEB08FA7586}"/>
              </a:ext>
            </a:extLst>
          </p:cNvPr>
          <p:cNvSpPr>
            <a:spLocks noGrp="1"/>
          </p:cNvSpPr>
          <p:nvPr>
            <p:ph type="ctrTitle"/>
          </p:nvPr>
        </p:nvSpPr>
        <p:spPr>
          <a:xfrm>
            <a:off x="514350" y="3307910"/>
            <a:ext cx="5829300" cy="859042"/>
          </a:xfrm>
        </p:spPr>
        <p:txBody>
          <a:bodyPr>
            <a:noAutofit/>
          </a:bodyPr>
          <a:lstStyle/>
          <a:p>
            <a:r>
              <a:rPr lang="es-ES" sz="6000" dirty="0">
                <a:solidFill>
                  <a:srgbClr val="0000FF"/>
                </a:solidFill>
                <a:latin typeface="Samsung Sharp Sans" pitchFamily="2" charset="0"/>
                <a:ea typeface="Samsung Sharp Sans" pitchFamily="2" charset="0"/>
                <a:cs typeface="Samsung Sharp Sans" pitchFamily="2" charset="0"/>
              </a:rPr>
              <a:t>APAR</a:t>
            </a:r>
          </a:p>
        </p:txBody>
      </p:sp>
      <p:sp>
        <p:nvSpPr>
          <p:cNvPr id="3" name="Subtítulo 2">
            <a:extLst>
              <a:ext uri="{FF2B5EF4-FFF2-40B4-BE49-F238E27FC236}">
                <a16:creationId xmlns:a16="http://schemas.microsoft.com/office/drawing/2014/main" id="{DBA0DE8A-C0FC-A2F6-A722-A0C3C689F2EF}"/>
              </a:ext>
            </a:extLst>
          </p:cNvPr>
          <p:cNvSpPr>
            <a:spLocks noGrp="1"/>
          </p:cNvSpPr>
          <p:nvPr>
            <p:ph type="subTitle" idx="1"/>
          </p:nvPr>
        </p:nvSpPr>
        <p:spPr>
          <a:xfrm>
            <a:off x="928369" y="7627903"/>
            <a:ext cx="5143500" cy="3141697"/>
          </a:xfrm>
          <a:noFill/>
          <a:ln>
            <a:noFill/>
          </a:ln>
        </p:spPr>
        <p:txBody>
          <a:bodyPr>
            <a:normAutofit/>
          </a:bodyPr>
          <a:lstStyle/>
          <a:p>
            <a:endParaRPr lang="es-ES" sz="2200" dirty="0"/>
          </a:p>
          <a:p>
            <a:r>
              <a:rPr lang="es-ES" sz="3000" dirty="0"/>
              <a:t>GUIA DE ESTILO</a:t>
            </a:r>
          </a:p>
          <a:p>
            <a:endParaRPr lang="es-ES" dirty="0"/>
          </a:p>
          <a:p>
            <a:endParaRPr lang="es-ES" dirty="0"/>
          </a:p>
          <a:p>
            <a:endParaRPr lang="es-ES" dirty="0"/>
          </a:p>
          <a:p>
            <a:endParaRPr lang="es-ES" dirty="0"/>
          </a:p>
          <a:p>
            <a:endParaRPr lang="es-ES" sz="1400" dirty="0"/>
          </a:p>
          <a:p>
            <a:r>
              <a:rPr lang="es-ES" sz="1400" dirty="0"/>
              <a:t>Fernando Asensi Tarin	-	22/9/2026</a:t>
            </a:r>
          </a:p>
        </p:txBody>
      </p:sp>
      <p:cxnSp>
        <p:nvCxnSpPr>
          <p:cNvPr id="5" name="Conector recto 4">
            <a:extLst>
              <a:ext uri="{FF2B5EF4-FFF2-40B4-BE49-F238E27FC236}">
                <a16:creationId xmlns:a16="http://schemas.microsoft.com/office/drawing/2014/main" id="{463B6E9C-C973-E49D-183B-F60961ACE56B}"/>
              </a:ext>
            </a:extLst>
          </p:cNvPr>
          <p:cNvCxnSpPr>
            <a:cxnSpLocks/>
          </p:cNvCxnSpPr>
          <p:nvPr/>
        </p:nvCxnSpPr>
        <p:spPr>
          <a:xfrm>
            <a:off x="1847684" y="9706113"/>
            <a:ext cx="316263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5549CFFE-4DBE-029F-1EA1-91C6F959D22C}"/>
              </a:ext>
            </a:extLst>
          </p:cNvPr>
          <p:cNvCxnSpPr>
            <a:cxnSpLocks/>
          </p:cNvCxnSpPr>
          <p:nvPr/>
        </p:nvCxnSpPr>
        <p:spPr>
          <a:xfrm>
            <a:off x="1830786" y="8798560"/>
            <a:ext cx="3162631"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Rectángulo 7">
            <a:extLst>
              <a:ext uri="{FF2B5EF4-FFF2-40B4-BE49-F238E27FC236}">
                <a16:creationId xmlns:a16="http://schemas.microsoft.com/office/drawing/2014/main" id="{782FCD4A-54C9-6FA9-A97A-C28431E75707}"/>
              </a:ext>
            </a:extLst>
          </p:cNvPr>
          <p:cNvSpPr/>
          <p:nvPr/>
        </p:nvSpPr>
        <p:spPr>
          <a:xfrm>
            <a:off x="0" y="8798560"/>
            <a:ext cx="5720079" cy="934709"/>
          </a:xfrm>
          <a:prstGeom prst="rect">
            <a:avLst/>
          </a:prstGeom>
          <a:solidFill>
            <a:srgbClr val="2A2C3C"/>
          </a:solidFill>
          <a:ln>
            <a:solidFill>
              <a:schemeClr val="accent1">
                <a:shade val="15000"/>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09731E2B-AAE8-6E5C-6285-DDD49B5AA29D}"/>
              </a:ext>
            </a:extLst>
          </p:cNvPr>
          <p:cNvSpPr txBox="1"/>
          <p:nvPr/>
        </p:nvSpPr>
        <p:spPr>
          <a:xfrm>
            <a:off x="2063817" y="8930640"/>
            <a:ext cx="2730363" cy="923330"/>
          </a:xfrm>
          <a:prstGeom prst="rect">
            <a:avLst/>
          </a:prstGeom>
          <a:noFill/>
        </p:spPr>
        <p:txBody>
          <a:bodyPr wrap="none" rtlCol="0">
            <a:spAutoFit/>
          </a:bodyPr>
          <a:lstStyle/>
          <a:p>
            <a:r>
              <a:rPr lang="es-ES" dirty="0">
                <a:solidFill>
                  <a:schemeClr val="bg1"/>
                </a:solidFill>
              </a:rPr>
              <a:t>Diseño de Interfaces Web</a:t>
            </a:r>
          </a:p>
          <a:p>
            <a:r>
              <a:rPr lang="es-ES" dirty="0">
                <a:solidFill>
                  <a:schemeClr val="bg1"/>
                </a:solidFill>
              </a:rPr>
              <a:t>2º DAW</a:t>
            </a:r>
          </a:p>
          <a:p>
            <a:endParaRPr lang="es-ES" dirty="0"/>
          </a:p>
        </p:txBody>
      </p:sp>
    </p:spTree>
    <p:extLst>
      <p:ext uri="{BB962C8B-B14F-4D97-AF65-F5344CB8AC3E}">
        <p14:creationId xmlns:p14="http://schemas.microsoft.com/office/powerpoint/2010/main" val="1832708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5B946FE5-616B-40EF-DF24-E480EC043AB9}"/>
              </a:ext>
            </a:extLst>
          </p:cNvPr>
          <p:cNvSpPr/>
          <p:nvPr/>
        </p:nvSpPr>
        <p:spPr>
          <a:xfrm>
            <a:off x="0" y="9204962"/>
            <a:ext cx="6858000" cy="2026918"/>
          </a:xfrm>
          <a:prstGeom prst="rect">
            <a:avLst/>
          </a:prstGeom>
          <a:solidFill>
            <a:srgbClr val="BBB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3">
            <a:extLst>
              <a:ext uri="{FF2B5EF4-FFF2-40B4-BE49-F238E27FC236}">
                <a16:creationId xmlns:a16="http://schemas.microsoft.com/office/drawing/2014/main" id="{6A721F09-DA67-974B-FE6D-E948A20FACB4}"/>
              </a:ext>
            </a:extLst>
          </p:cNvPr>
          <p:cNvCxnSpPr/>
          <p:nvPr/>
        </p:nvCxnSpPr>
        <p:spPr>
          <a:xfrm>
            <a:off x="777240" y="8693912"/>
            <a:ext cx="5334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5" name="CuadroTexto 4">
            <a:extLst>
              <a:ext uri="{FF2B5EF4-FFF2-40B4-BE49-F238E27FC236}">
                <a16:creationId xmlns:a16="http://schemas.microsoft.com/office/drawing/2014/main" id="{FAB49B84-98B4-E22D-B699-660570E6F44E}"/>
              </a:ext>
            </a:extLst>
          </p:cNvPr>
          <p:cNvSpPr txBox="1"/>
          <p:nvPr/>
        </p:nvSpPr>
        <p:spPr>
          <a:xfrm>
            <a:off x="777240" y="9418322"/>
            <a:ext cx="1455911" cy="369332"/>
          </a:xfrm>
          <a:prstGeom prst="rect">
            <a:avLst/>
          </a:prstGeom>
          <a:noFill/>
        </p:spPr>
        <p:txBody>
          <a:bodyPr wrap="none" rtlCol="0">
            <a:spAutoFit/>
          </a:bodyPr>
          <a:lstStyle/>
          <a:p>
            <a:r>
              <a:rPr lang="es-ES" dirty="0">
                <a:solidFill>
                  <a:srgbClr val="2A2C3C"/>
                </a:solidFill>
              </a:rPr>
              <a:t>Introducción</a:t>
            </a:r>
          </a:p>
        </p:txBody>
      </p:sp>
      <p:sp>
        <p:nvSpPr>
          <p:cNvPr id="6" name="CuadroTexto 5">
            <a:extLst>
              <a:ext uri="{FF2B5EF4-FFF2-40B4-BE49-F238E27FC236}">
                <a16:creationId xmlns:a16="http://schemas.microsoft.com/office/drawing/2014/main" id="{B99183A5-89BE-8E04-5620-EE8119101AD4}"/>
              </a:ext>
            </a:extLst>
          </p:cNvPr>
          <p:cNvSpPr txBox="1"/>
          <p:nvPr/>
        </p:nvSpPr>
        <p:spPr>
          <a:xfrm>
            <a:off x="777240" y="9990112"/>
            <a:ext cx="1017586" cy="369332"/>
          </a:xfrm>
          <a:prstGeom prst="rect">
            <a:avLst/>
          </a:prstGeom>
          <a:noFill/>
        </p:spPr>
        <p:txBody>
          <a:bodyPr wrap="none" rtlCol="0">
            <a:spAutoFit/>
          </a:bodyPr>
          <a:lstStyle/>
          <a:p>
            <a:r>
              <a:rPr lang="es-ES" dirty="0">
                <a:solidFill>
                  <a:srgbClr val="2A2C3C"/>
                </a:solidFill>
              </a:rPr>
              <a:t>Objetivo</a:t>
            </a:r>
          </a:p>
        </p:txBody>
      </p:sp>
      <p:sp>
        <p:nvSpPr>
          <p:cNvPr id="7" name="CuadroTexto 6">
            <a:extLst>
              <a:ext uri="{FF2B5EF4-FFF2-40B4-BE49-F238E27FC236}">
                <a16:creationId xmlns:a16="http://schemas.microsoft.com/office/drawing/2014/main" id="{23A17242-01F4-BF51-DC8F-46EEEBEA83AB}"/>
              </a:ext>
            </a:extLst>
          </p:cNvPr>
          <p:cNvSpPr txBox="1"/>
          <p:nvPr/>
        </p:nvSpPr>
        <p:spPr>
          <a:xfrm>
            <a:off x="777240" y="10538752"/>
            <a:ext cx="1223220" cy="369332"/>
          </a:xfrm>
          <a:prstGeom prst="rect">
            <a:avLst/>
          </a:prstGeom>
          <a:noFill/>
        </p:spPr>
        <p:txBody>
          <a:bodyPr wrap="none" rtlCol="0">
            <a:spAutoFit/>
          </a:bodyPr>
          <a:lstStyle/>
          <a:p>
            <a:r>
              <a:rPr lang="es-ES" dirty="0">
                <a:solidFill>
                  <a:srgbClr val="2A2C3C"/>
                </a:solidFill>
              </a:rPr>
              <a:t>Estructura</a:t>
            </a:r>
          </a:p>
        </p:txBody>
      </p:sp>
      <p:sp>
        <p:nvSpPr>
          <p:cNvPr id="8" name="CuadroTexto 7">
            <a:extLst>
              <a:ext uri="{FF2B5EF4-FFF2-40B4-BE49-F238E27FC236}">
                <a16:creationId xmlns:a16="http://schemas.microsoft.com/office/drawing/2014/main" id="{55F167B8-30B6-5356-389B-B5CF8D603E82}"/>
              </a:ext>
            </a:extLst>
          </p:cNvPr>
          <p:cNvSpPr txBox="1"/>
          <p:nvPr/>
        </p:nvSpPr>
        <p:spPr>
          <a:xfrm>
            <a:off x="5228824" y="9418322"/>
            <a:ext cx="1157689" cy="369332"/>
          </a:xfrm>
          <a:prstGeom prst="rect">
            <a:avLst/>
          </a:prstGeom>
          <a:noFill/>
        </p:spPr>
        <p:txBody>
          <a:bodyPr wrap="none" rtlCol="0">
            <a:spAutoFit/>
          </a:bodyPr>
          <a:lstStyle/>
          <a:p>
            <a:r>
              <a:rPr lang="es-ES" dirty="0">
                <a:solidFill>
                  <a:srgbClr val="2A2C3C"/>
                </a:solidFill>
              </a:rPr>
              <a:t>Tipografía</a:t>
            </a:r>
          </a:p>
        </p:txBody>
      </p:sp>
      <p:sp>
        <p:nvSpPr>
          <p:cNvPr id="9" name="CuadroTexto 8">
            <a:extLst>
              <a:ext uri="{FF2B5EF4-FFF2-40B4-BE49-F238E27FC236}">
                <a16:creationId xmlns:a16="http://schemas.microsoft.com/office/drawing/2014/main" id="{42C390D4-1005-2ACF-A82F-F8205E8E0441}"/>
              </a:ext>
            </a:extLst>
          </p:cNvPr>
          <p:cNvSpPr txBox="1"/>
          <p:nvPr/>
        </p:nvSpPr>
        <p:spPr>
          <a:xfrm>
            <a:off x="5421121" y="9990112"/>
            <a:ext cx="965392" cy="369332"/>
          </a:xfrm>
          <a:prstGeom prst="rect">
            <a:avLst/>
          </a:prstGeom>
          <a:noFill/>
        </p:spPr>
        <p:txBody>
          <a:bodyPr wrap="none" rtlCol="0">
            <a:spAutoFit/>
          </a:bodyPr>
          <a:lstStyle/>
          <a:p>
            <a:r>
              <a:rPr lang="es-ES" dirty="0">
                <a:solidFill>
                  <a:srgbClr val="2A2C3C"/>
                </a:solidFill>
              </a:rPr>
              <a:t>Colores</a:t>
            </a:r>
          </a:p>
        </p:txBody>
      </p:sp>
      <p:sp>
        <p:nvSpPr>
          <p:cNvPr id="10" name="CuadroTexto 9">
            <a:extLst>
              <a:ext uri="{FF2B5EF4-FFF2-40B4-BE49-F238E27FC236}">
                <a16:creationId xmlns:a16="http://schemas.microsoft.com/office/drawing/2014/main" id="{B4F46FBF-2796-C6D5-332B-2970197F28F7}"/>
              </a:ext>
            </a:extLst>
          </p:cNvPr>
          <p:cNvSpPr txBox="1"/>
          <p:nvPr/>
        </p:nvSpPr>
        <p:spPr>
          <a:xfrm>
            <a:off x="5089363" y="10538752"/>
            <a:ext cx="1297150" cy="369332"/>
          </a:xfrm>
          <a:prstGeom prst="rect">
            <a:avLst/>
          </a:prstGeom>
          <a:noFill/>
        </p:spPr>
        <p:txBody>
          <a:bodyPr wrap="none" rtlCol="0">
            <a:spAutoFit/>
          </a:bodyPr>
          <a:lstStyle/>
          <a:p>
            <a:r>
              <a:rPr lang="es-ES" dirty="0">
                <a:solidFill>
                  <a:srgbClr val="2A2C3C"/>
                </a:solidFill>
              </a:rPr>
              <a:t>Iconografía</a:t>
            </a:r>
          </a:p>
        </p:txBody>
      </p:sp>
      <p:sp>
        <p:nvSpPr>
          <p:cNvPr id="14" name="Marcador de número de diapositiva 13">
            <a:extLst>
              <a:ext uri="{FF2B5EF4-FFF2-40B4-BE49-F238E27FC236}">
                <a16:creationId xmlns:a16="http://schemas.microsoft.com/office/drawing/2014/main" id="{DBD3569C-940D-D135-0ABE-6F225A94DD59}"/>
              </a:ext>
            </a:extLst>
          </p:cNvPr>
          <p:cNvSpPr>
            <a:spLocks noGrp="1"/>
          </p:cNvSpPr>
          <p:nvPr>
            <p:ph type="sldNum" sz="quarter" idx="12"/>
          </p:nvPr>
        </p:nvSpPr>
        <p:spPr/>
        <p:txBody>
          <a:bodyPr/>
          <a:lstStyle/>
          <a:p>
            <a:fld id="{3CDA0B52-2607-45F8-B315-1CB26DB638C1}" type="slidenum">
              <a:rPr lang="es-ES" smtClean="0"/>
              <a:t>2</a:t>
            </a:fld>
            <a:endParaRPr lang="es-ES"/>
          </a:p>
        </p:txBody>
      </p:sp>
      <p:pic>
        <p:nvPicPr>
          <p:cNvPr id="18" name="Imagen 17">
            <a:extLst>
              <a:ext uri="{FF2B5EF4-FFF2-40B4-BE49-F238E27FC236}">
                <a16:creationId xmlns:a16="http://schemas.microsoft.com/office/drawing/2014/main" id="{1B162F62-530A-F6FD-6338-00AF2FCCB8B0}"/>
              </a:ext>
            </a:extLst>
          </p:cNvPr>
          <p:cNvPicPr>
            <a:picLocks noChangeAspect="1"/>
          </p:cNvPicPr>
          <p:nvPr/>
        </p:nvPicPr>
        <p:blipFill>
          <a:blip r:embed="rId2">
            <a:extLst>
              <a:ext uri="{28A0092B-C50C-407E-A947-70E740481C1C}">
                <a14:useLocalDpi xmlns:a14="http://schemas.microsoft.com/office/drawing/2010/main" val="0"/>
              </a:ext>
            </a:extLst>
          </a:blip>
          <a:srcRect t="6091" b="6091"/>
          <a:stretch/>
        </p:blipFill>
        <p:spPr>
          <a:xfrm>
            <a:off x="777240" y="1230923"/>
            <a:ext cx="6333729" cy="6951745"/>
          </a:xfrm>
          <a:prstGeom prst="rect">
            <a:avLst/>
          </a:prstGeom>
        </p:spPr>
      </p:pic>
      <p:sp>
        <p:nvSpPr>
          <p:cNvPr id="12" name="Rectángulo: esquinas redondeadas 11">
            <a:extLst>
              <a:ext uri="{FF2B5EF4-FFF2-40B4-BE49-F238E27FC236}">
                <a16:creationId xmlns:a16="http://schemas.microsoft.com/office/drawing/2014/main" id="{3F8FD976-BE11-B4BE-F8BF-406063A1D1F8}"/>
              </a:ext>
            </a:extLst>
          </p:cNvPr>
          <p:cNvSpPr/>
          <p:nvPr/>
        </p:nvSpPr>
        <p:spPr>
          <a:xfrm>
            <a:off x="2825337" y="9418322"/>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86314FB8-2264-B90F-536B-5BCC0B87B91C}"/>
              </a:ext>
            </a:extLst>
          </p:cNvPr>
          <p:cNvSpPr txBox="1"/>
          <p:nvPr/>
        </p:nvSpPr>
        <p:spPr>
          <a:xfrm>
            <a:off x="2849930" y="9418322"/>
            <a:ext cx="320922" cy="400110"/>
          </a:xfrm>
          <a:prstGeom prst="rect">
            <a:avLst/>
          </a:prstGeom>
          <a:noFill/>
        </p:spPr>
        <p:txBody>
          <a:bodyPr wrap="none" rtlCol="0">
            <a:spAutoFit/>
          </a:bodyPr>
          <a:lstStyle/>
          <a:p>
            <a:r>
              <a:rPr lang="es-ES" sz="2000" dirty="0">
                <a:solidFill>
                  <a:srgbClr val="7F7F7F"/>
                </a:solidFill>
              </a:rPr>
              <a:t>3</a:t>
            </a:r>
          </a:p>
        </p:txBody>
      </p:sp>
      <p:sp>
        <p:nvSpPr>
          <p:cNvPr id="15" name="Rectángulo: esquinas redondeadas 14">
            <a:extLst>
              <a:ext uri="{FF2B5EF4-FFF2-40B4-BE49-F238E27FC236}">
                <a16:creationId xmlns:a16="http://schemas.microsoft.com/office/drawing/2014/main" id="{FEA3048E-E49A-34CF-AE45-1726DE5508C7}"/>
              </a:ext>
            </a:extLst>
          </p:cNvPr>
          <p:cNvSpPr/>
          <p:nvPr/>
        </p:nvSpPr>
        <p:spPr>
          <a:xfrm>
            <a:off x="2825337" y="9984857"/>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6439651C-BBA4-CB32-BB59-289D75ECE70C}"/>
              </a:ext>
            </a:extLst>
          </p:cNvPr>
          <p:cNvSpPr txBox="1"/>
          <p:nvPr/>
        </p:nvSpPr>
        <p:spPr>
          <a:xfrm>
            <a:off x="2849930" y="9984857"/>
            <a:ext cx="320922" cy="400110"/>
          </a:xfrm>
          <a:prstGeom prst="rect">
            <a:avLst/>
          </a:prstGeom>
          <a:noFill/>
        </p:spPr>
        <p:txBody>
          <a:bodyPr wrap="none" rtlCol="0">
            <a:spAutoFit/>
          </a:bodyPr>
          <a:lstStyle/>
          <a:p>
            <a:r>
              <a:rPr lang="es-ES" sz="2000" dirty="0">
                <a:solidFill>
                  <a:srgbClr val="7F7F7F"/>
                </a:solidFill>
              </a:rPr>
              <a:t>4</a:t>
            </a:r>
          </a:p>
        </p:txBody>
      </p:sp>
      <p:sp>
        <p:nvSpPr>
          <p:cNvPr id="17" name="Rectángulo: esquinas redondeadas 16">
            <a:extLst>
              <a:ext uri="{FF2B5EF4-FFF2-40B4-BE49-F238E27FC236}">
                <a16:creationId xmlns:a16="http://schemas.microsoft.com/office/drawing/2014/main" id="{01A7BAB3-1A16-BCCE-938C-5AE48DFFED9C}"/>
              </a:ext>
            </a:extLst>
          </p:cNvPr>
          <p:cNvSpPr/>
          <p:nvPr/>
        </p:nvSpPr>
        <p:spPr>
          <a:xfrm>
            <a:off x="2825337" y="10551392"/>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C71CE3E3-8B17-18EB-C10A-79220DC4E3AE}"/>
              </a:ext>
            </a:extLst>
          </p:cNvPr>
          <p:cNvSpPr txBox="1"/>
          <p:nvPr/>
        </p:nvSpPr>
        <p:spPr>
          <a:xfrm>
            <a:off x="2849930" y="10551392"/>
            <a:ext cx="320922" cy="400110"/>
          </a:xfrm>
          <a:prstGeom prst="rect">
            <a:avLst/>
          </a:prstGeom>
          <a:noFill/>
        </p:spPr>
        <p:txBody>
          <a:bodyPr wrap="none" rtlCol="0">
            <a:spAutoFit/>
          </a:bodyPr>
          <a:lstStyle/>
          <a:p>
            <a:r>
              <a:rPr lang="es-ES" sz="2000" dirty="0">
                <a:solidFill>
                  <a:srgbClr val="7F7F7F"/>
                </a:solidFill>
              </a:rPr>
              <a:t>5</a:t>
            </a:r>
          </a:p>
        </p:txBody>
      </p:sp>
      <p:sp>
        <p:nvSpPr>
          <p:cNvPr id="20" name="Rectángulo: esquinas redondeadas 19">
            <a:extLst>
              <a:ext uri="{FF2B5EF4-FFF2-40B4-BE49-F238E27FC236}">
                <a16:creationId xmlns:a16="http://schemas.microsoft.com/office/drawing/2014/main" id="{5E3EEBFF-4F4F-955B-6D3B-B3EBADE305A8}"/>
              </a:ext>
            </a:extLst>
          </p:cNvPr>
          <p:cNvSpPr/>
          <p:nvPr/>
        </p:nvSpPr>
        <p:spPr>
          <a:xfrm>
            <a:off x="3990191" y="9418322"/>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2B38D065-57FC-E8CA-1025-42240EF2E198}"/>
              </a:ext>
            </a:extLst>
          </p:cNvPr>
          <p:cNvSpPr txBox="1"/>
          <p:nvPr/>
        </p:nvSpPr>
        <p:spPr>
          <a:xfrm>
            <a:off x="4014784" y="9418322"/>
            <a:ext cx="320922" cy="400110"/>
          </a:xfrm>
          <a:prstGeom prst="rect">
            <a:avLst/>
          </a:prstGeom>
          <a:noFill/>
        </p:spPr>
        <p:txBody>
          <a:bodyPr wrap="none" rtlCol="0">
            <a:spAutoFit/>
          </a:bodyPr>
          <a:lstStyle/>
          <a:p>
            <a:r>
              <a:rPr lang="es-ES" sz="2000" dirty="0">
                <a:solidFill>
                  <a:srgbClr val="7F7F7F"/>
                </a:solidFill>
              </a:rPr>
              <a:t>8</a:t>
            </a:r>
          </a:p>
        </p:txBody>
      </p:sp>
      <p:sp>
        <p:nvSpPr>
          <p:cNvPr id="22" name="Rectángulo: esquinas redondeadas 21">
            <a:extLst>
              <a:ext uri="{FF2B5EF4-FFF2-40B4-BE49-F238E27FC236}">
                <a16:creationId xmlns:a16="http://schemas.microsoft.com/office/drawing/2014/main" id="{4F06E737-D85D-7F5D-5194-076B1C088936}"/>
              </a:ext>
            </a:extLst>
          </p:cNvPr>
          <p:cNvSpPr/>
          <p:nvPr/>
        </p:nvSpPr>
        <p:spPr>
          <a:xfrm>
            <a:off x="3990191" y="9984857"/>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0CDF7EF0-A85C-42B7-D1A7-DE606FA2D611}"/>
              </a:ext>
            </a:extLst>
          </p:cNvPr>
          <p:cNvSpPr txBox="1"/>
          <p:nvPr/>
        </p:nvSpPr>
        <p:spPr>
          <a:xfrm>
            <a:off x="4014784" y="9984857"/>
            <a:ext cx="320922" cy="400110"/>
          </a:xfrm>
          <a:prstGeom prst="rect">
            <a:avLst/>
          </a:prstGeom>
          <a:noFill/>
        </p:spPr>
        <p:txBody>
          <a:bodyPr wrap="none" rtlCol="0">
            <a:spAutoFit/>
          </a:bodyPr>
          <a:lstStyle/>
          <a:p>
            <a:r>
              <a:rPr lang="es-ES" sz="2000" dirty="0">
                <a:solidFill>
                  <a:srgbClr val="7F7F7F"/>
                </a:solidFill>
              </a:rPr>
              <a:t>9</a:t>
            </a:r>
          </a:p>
        </p:txBody>
      </p:sp>
      <p:sp>
        <p:nvSpPr>
          <p:cNvPr id="24" name="Rectángulo: esquinas redondeadas 23">
            <a:extLst>
              <a:ext uri="{FF2B5EF4-FFF2-40B4-BE49-F238E27FC236}">
                <a16:creationId xmlns:a16="http://schemas.microsoft.com/office/drawing/2014/main" id="{1DDD92C6-4FD4-4AB9-794D-F82004A8F8DB}"/>
              </a:ext>
            </a:extLst>
          </p:cNvPr>
          <p:cNvSpPr/>
          <p:nvPr/>
        </p:nvSpPr>
        <p:spPr>
          <a:xfrm>
            <a:off x="3990191" y="10551392"/>
            <a:ext cx="370108" cy="353175"/>
          </a:xfrm>
          <a:prstGeom prst="roundRect">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1EC822DA-3DAA-6F62-2691-176DE9AF3540}"/>
              </a:ext>
            </a:extLst>
          </p:cNvPr>
          <p:cNvSpPr txBox="1"/>
          <p:nvPr/>
        </p:nvSpPr>
        <p:spPr>
          <a:xfrm>
            <a:off x="3956909" y="10551392"/>
            <a:ext cx="457176" cy="400110"/>
          </a:xfrm>
          <a:prstGeom prst="rect">
            <a:avLst/>
          </a:prstGeom>
          <a:noFill/>
        </p:spPr>
        <p:txBody>
          <a:bodyPr wrap="none" rtlCol="0">
            <a:spAutoFit/>
          </a:bodyPr>
          <a:lstStyle/>
          <a:p>
            <a:r>
              <a:rPr lang="es-ES" sz="2000" dirty="0">
                <a:solidFill>
                  <a:srgbClr val="7F7F7F"/>
                </a:solidFill>
              </a:rPr>
              <a:t>10</a:t>
            </a:r>
          </a:p>
        </p:txBody>
      </p:sp>
      <p:cxnSp>
        <p:nvCxnSpPr>
          <p:cNvPr id="27" name="Conector recto 26">
            <a:extLst>
              <a:ext uri="{FF2B5EF4-FFF2-40B4-BE49-F238E27FC236}">
                <a16:creationId xmlns:a16="http://schemas.microsoft.com/office/drawing/2014/main" id="{1A27B774-B337-59FD-3BC9-F0CE1F082A00}"/>
              </a:ext>
            </a:extLst>
          </p:cNvPr>
          <p:cNvCxnSpPr>
            <a:cxnSpLocks/>
          </p:cNvCxnSpPr>
          <p:nvPr/>
        </p:nvCxnSpPr>
        <p:spPr>
          <a:xfrm>
            <a:off x="3599727" y="9595413"/>
            <a:ext cx="0" cy="1157468"/>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Rectángulo 29">
            <a:extLst>
              <a:ext uri="{FF2B5EF4-FFF2-40B4-BE49-F238E27FC236}">
                <a16:creationId xmlns:a16="http://schemas.microsoft.com/office/drawing/2014/main" id="{ACB6BE02-4139-7959-5E43-EE88E5D10BC5}"/>
              </a:ext>
            </a:extLst>
          </p:cNvPr>
          <p:cNvSpPr/>
          <p:nvPr/>
        </p:nvSpPr>
        <p:spPr>
          <a:xfrm>
            <a:off x="2110154" y="597877"/>
            <a:ext cx="4747843"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0EC99427-B725-BAE9-B2C3-F134740C8B29}"/>
              </a:ext>
            </a:extLst>
          </p:cNvPr>
          <p:cNvSpPr txBox="1"/>
          <p:nvPr/>
        </p:nvSpPr>
        <p:spPr>
          <a:xfrm>
            <a:off x="2250831" y="734126"/>
            <a:ext cx="1749453" cy="430887"/>
          </a:xfrm>
          <a:prstGeom prst="rect">
            <a:avLst/>
          </a:prstGeom>
          <a:noFill/>
        </p:spPr>
        <p:txBody>
          <a:bodyPr wrap="none" rtlCol="0">
            <a:spAutoFit/>
          </a:bodyPr>
          <a:lstStyle/>
          <a:p>
            <a:r>
              <a:rPr lang="es-ES" sz="2200" dirty="0">
                <a:solidFill>
                  <a:schemeClr val="bg1"/>
                </a:solidFill>
              </a:rPr>
              <a:t>CONTENIDO</a:t>
            </a:r>
          </a:p>
        </p:txBody>
      </p:sp>
    </p:spTree>
    <p:extLst>
      <p:ext uri="{BB962C8B-B14F-4D97-AF65-F5344CB8AC3E}">
        <p14:creationId xmlns:p14="http://schemas.microsoft.com/office/powerpoint/2010/main" val="376250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F50CEF7-2D04-7B90-60BD-FA0AED667FC3}"/>
              </a:ext>
            </a:extLst>
          </p:cNvPr>
          <p:cNvSpPr/>
          <p:nvPr/>
        </p:nvSpPr>
        <p:spPr>
          <a:xfrm>
            <a:off x="-1" y="597877"/>
            <a:ext cx="4712677"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5A3E8336-3B44-0B08-DE5A-839E33E89FCF}"/>
              </a:ext>
            </a:extLst>
          </p:cNvPr>
          <p:cNvSpPr txBox="1"/>
          <p:nvPr/>
        </p:nvSpPr>
        <p:spPr>
          <a:xfrm>
            <a:off x="2409096" y="734126"/>
            <a:ext cx="2222083" cy="430887"/>
          </a:xfrm>
          <a:prstGeom prst="rect">
            <a:avLst/>
          </a:prstGeom>
          <a:noFill/>
        </p:spPr>
        <p:txBody>
          <a:bodyPr wrap="none" rtlCol="0">
            <a:spAutoFit/>
          </a:bodyPr>
          <a:lstStyle/>
          <a:p>
            <a:r>
              <a:rPr lang="es-ES" sz="2200" dirty="0">
                <a:solidFill>
                  <a:schemeClr val="bg1"/>
                </a:solidFill>
              </a:rPr>
              <a:t>INTRODUCCIÓN</a:t>
            </a:r>
          </a:p>
        </p:txBody>
      </p:sp>
      <p:sp>
        <p:nvSpPr>
          <p:cNvPr id="5" name="CuadroTexto 4">
            <a:extLst>
              <a:ext uri="{FF2B5EF4-FFF2-40B4-BE49-F238E27FC236}">
                <a16:creationId xmlns:a16="http://schemas.microsoft.com/office/drawing/2014/main" id="{A366AFDC-4E86-C50C-5558-D62BBCE38581}"/>
              </a:ext>
            </a:extLst>
          </p:cNvPr>
          <p:cNvSpPr txBox="1"/>
          <p:nvPr/>
        </p:nvSpPr>
        <p:spPr>
          <a:xfrm>
            <a:off x="719589" y="8327629"/>
            <a:ext cx="5418821" cy="2031325"/>
          </a:xfrm>
          <a:prstGeom prst="rect">
            <a:avLst/>
          </a:prstGeom>
          <a:noFill/>
        </p:spPr>
        <p:txBody>
          <a:bodyPr wrap="square" rtlCol="0">
            <a:spAutoFit/>
          </a:bodyPr>
          <a:lstStyle/>
          <a:p>
            <a:pPr algn="just"/>
            <a:r>
              <a:rPr lang="es-ES" dirty="0"/>
              <a:t>Esta guía de estilo recoge los requisitos que debe seguir cualquier proyecto que se desarrolle dentro del ecosistema de Samsung España. Se definen los distintivos elementos visuales y de diseño que aportarán la imagen moderna, profesional y tecnológica distintiva de la marca.</a:t>
            </a:r>
          </a:p>
          <a:p>
            <a:endParaRPr lang="es-ES" dirty="0"/>
          </a:p>
        </p:txBody>
      </p:sp>
      <p:cxnSp>
        <p:nvCxnSpPr>
          <p:cNvPr id="6" name="Conector recto 5">
            <a:extLst>
              <a:ext uri="{FF2B5EF4-FFF2-40B4-BE49-F238E27FC236}">
                <a16:creationId xmlns:a16="http://schemas.microsoft.com/office/drawing/2014/main" id="{3998FFB1-63BB-119D-39BC-ED31CEC4A524}"/>
              </a:ext>
            </a:extLst>
          </p:cNvPr>
          <p:cNvCxnSpPr/>
          <p:nvPr/>
        </p:nvCxnSpPr>
        <p:spPr>
          <a:xfrm>
            <a:off x="762000" y="7949025"/>
            <a:ext cx="5334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27FD1DEC-CBF2-7C6F-DB93-49A6FCD6A561}"/>
              </a:ext>
            </a:extLst>
          </p:cNvPr>
          <p:cNvCxnSpPr/>
          <p:nvPr/>
        </p:nvCxnSpPr>
        <p:spPr>
          <a:xfrm>
            <a:off x="762000" y="10336287"/>
            <a:ext cx="5334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8" name="Marcador de número de diapositiva 7">
            <a:extLst>
              <a:ext uri="{FF2B5EF4-FFF2-40B4-BE49-F238E27FC236}">
                <a16:creationId xmlns:a16="http://schemas.microsoft.com/office/drawing/2014/main" id="{059FF72B-7477-8BBE-ED3C-458006C4D841}"/>
              </a:ext>
            </a:extLst>
          </p:cNvPr>
          <p:cNvSpPr>
            <a:spLocks noGrp="1"/>
          </p:cNvSpPr>
          <p:nvPr>
            <p:ph type="sldNum" sz="quarter" idx="12"/>
          </p:nvPr>
        </p:nvSpPr>
        <p:spPr/>
        <p:txBody>
          <a:bodyPr/>
          <a:lstStyle/>
          <a:p>
            <a:fld id="{3CDA0B52-2607-45F8-B315-1CB26DB638C1}" type="slidenum">
              <a:rPr lang="es-ES" smtClean="0"/>
              <a:t>3</a:t>
            </a:fld>
            <a:endParaRPr lang="es-ES" dirty="0"/>
          </a:p>
        </p:txBody>
      </p:sp>
      <p:pic>
        <p:nvPicPr>
          <p:cNvPr id="10" name="Imagen 9">
            <a:extLst>
              <a:ext uri="{FF2B5EF4-FFF2-40B4-BE49-F238E27FC236}">
                <a16:creationId xmlns:a16="http://schemas.microsoft.com/office/drawing/2014/main" id="{ADE7FEE0-8D09-6927-DDE8-796FEC42E1D5}"/>
              </a:ext>
            </a:extLst>
          </p:cNvPr>
          <p:cNvPicPr>
            <a:picLocks noChangeAspect="1"/>
          </p:cNvPicPr>
          <p:nvPr/>
        </p:nvPicPr>
        <p:blipFill>
          <a:blip r:embed="rId2">
            <a:extLst>
              <a:ext uri="{28A0092B-C50C-407E-A947-70E740481C1C}">
                <a14:useLocalDpi xmlns:a14="http://schemas.microsoft.com/office/drawing/2010/main" val="0"/>
              </a:ext>
            </a:extLst>
          </a:blip>
          <a:srcRect t="4828" b="4828"/>
          <a:stretch/>
        </p:blipFill>
        <p:spPr>
          <a:xfrm>
            <a:off x="-1" y="2737253"/>
            <a:ext cx="6849842" cy="4084045"/>
          </a:xfrm>
          <a:prstGeom prst="rect">
            <a:avLst/>
          </a:prstGeom>
        </p:spPr>
      </p:pic>
      <p:cxnSp>
        <p:nvCxnSpPr>
          <p:cNvPr id="2" name="Conector recto 1">
            <a:extLst>
              <a:ext uri="{FF2B5EF4-FFF2-40B4-BE49-F238E27FC236}">
                <a16:creationId xmlns:a16="http://schemas.microsoft.com/office/drawing/2014/main" id="{DD0F8723-121F-E9EB-CC27-679212D9E980}"/>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459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AD134-D7A2-C65F-2E0A-A5664B14BFE9}"/>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7BA3692E-FA19-3FBD-31B8-4B971BB2327E}"/>
              </a:ext>
            </a:extLst>
          </p:cNvPr>
          <p:cNvSpPr/>
          <p:nvPr/>
        </p:nvSpPr>
        <p:spPr>
          <a:xfrm>
            <a:off x="2110154" y="597877"/>
            <a:ext cx="4747843" cy="633046"/>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8AF0CED2-B920-47A5-4B54-10E6D2CB74F9}"/>
              </a:ext>
            </a:extLst>
          </p:cNvPr>
          <p:cNvSpPr txBox="1"/>
          <p:nvPr/>
        </p:nvSpPr>
        <p:spPr>
          <a:xfrm>
            <a:off x="2250831" y="734126"/>
            <a:ext cx="1384033" cy="430887"/>
          </a:xfrm>
          <a:prstGeom prst="rect">
            <a:avLst/>
          </a:prstGeom>
          <a:noFill/>
        </p:spPr>
        <p:txBody>
          <a:bodyPr wrap="none" rtlCol="0">
            <a:spAutoFit/>
          </a:bodyPr>
          <a:lstStyle/>
          <a:p>
            <a:r>
              <a:rPr lang="es-ES" sz="2200" dirty="0">
                <a:solidFill>
                  <a:schemeClr val="bg1"/>
                </a:solidFill>
              </a:rPr>
              <a:t>OBJETIVO</a:t>
            </a:r>
          </a:p>
        </p:txBody>
      </p:sp>
      <p:sp>
        <p:nvSpPr>
          <p:cNvPr id="5" name="CuadroTexto 4">
            <a:extLst>
              <a:ext uri="{FF2B5EF4-FFF2-40B4-BE49-F238E27FC236}">
                <a16:creationId xmlns:a16="http://schemas.microsoft.com/office/drawing/2014/main" id="{A35D4667-0F48-9047-B443-43F93AB86629}"/>
              </a:ext>
            </a:extLst>
          </p:cNvPr>
          <p:cNvSpPr txBox="1">
            <a:spLocks/>
          </p:cNvSpPr>
          <p:nvPr/>
        </p:nvSpPr>
        <p:spPr>
          <a:xfrm>
            <a:off x="719589" y="2093686"/>
            <a:ext cx="5418821" cy="5909310"/>
          </a:xfrm>
          <a:prstGeom prst="rect">
            <a:avLst/>
          </a:prstGeom>
          <a:noFill/>
        </p:spPr>
        <p:txBody>
          <a:bodyPr wrap="square" rtlCol="0">
            <a:spAutoFit/>
          </a:bodyPr>
          <a:lstStyle/>
          <a:p>
            <a:pPr algn="just"/>
            <a:r>
              <a:rPr lang="es-ES" sz="1400" dirty="0"/>
              <a:t>La página web de Samsung España tiene como objetivo ser un e-</a:t>
            </a:r>
            <a:r>
              <a:rPr lang="es-ES" sz="1400" dirty="0" err="1"/>
              <a:t>commerce</a:t>
            </a:r>
            <a:r>
              <a:rPr lang="es-ES" sz="1400" dirty="0"/>
              <a:t> global y por lo tanto presentar tanto sus productos como sus servicios, adaptados al mercado de España.</a:t>
            </a:r>
          </a:p>
          <a:p>
            <a:pPr algn="just"/>
            <a:endParaRPr lang="es-ES" sz="1400" dirty="0"/>
          </a:p>
          <a:p>
            <a:pPr algn="just"/>
            <a:r>
              <a:rPr lang="es-ES" sz="1400" dirty="0"/>
              <a:t>Predominantemente enfocada a priorizar los productos estrella de la marca, smartphones y TV, la página presenta la totalidad de los productos disponibles en el mercado español, por lo que abarca un público objetivo muy elevado, conformado prioritariamente por consumidores que apuestan por productos innovadores y de una alta calidad.</a:t>
            </a:r>
          </a:p>
          <a:p>
            <a:pPr algn="just"/>
            <a:endParaRPr lang="es-ES" sz="1400" dirty="0"/>
          </a:p>
          <a:p>
            <a:pPr algn="just"/>
            <a:r>
              <a:rPr lang="es-ES" sz="1400" dirty="0"/>
              <a:t>La minimalista paleta de colores utilizada ayuda a presentar una imagen moderna y elegante que, junto con el diseño de los elementos de navegación, las imágenes y elementos audiovisuales de alta calidad, contribuye a dar el protagonismo a los protagonistas principales, los diferentes productos de la marca.</a:t>
            </a:r>
          </a:p>
          <a:p>
            <a:pPr algn="just"/>
            <a:endParaRPr lang="es-ES" sz="1400" dirty="0"/>
          </a:p>
          <a:p>
            <a:pPr algn="just"/>
            <a:r>
              <a:rPr lang="es-ES" sz="1400" dirty="0"/>
              <a:t>La sencillez y claridad que se transmite con la elegante tipografía y el diseño minimalista de los botones hace que la selección de las diferentes opciones sea muy intuitiva y agradable al usuario.</a:t>
            </a:r>
          </a:p>
          <a:p>
            <a:pPr algn="just"/>
            <a:r>
              <a:rPr lang="es-ES" sz="1400" dirty="0"/>
              <a:t>Los elementos de navegación para mostrar los diferentes productos y la estructura común en los bloques principales de las páginas de las diferentes gamas de productos (smartphone, tv, electrodomésticos, </a:t>
            </a:r>
            <a:r>
              <a:rPr lang="es-ES" sz="1400" dirty="0" err="1"/>
              <a:t>etc</a:t>
            </a:r>
            <a:r>
              <a:rPr lang="es-ES" sz="1400" dirty="0"/>
              <a:t>) hace que sea muy fácil para el usuario la navegación entre el gran catálogo disponible para encontrar el producto deseado, consiguiéndose una experiencia de usuario notable.</a:t>
            </a:r>
          </a:p>
        </p:txBody>
      </p:sp>
      <p:cxnSp>
        <p:nvCxnSpPr>
          <p:cNvPr id="6" name="Conector recto 5">
            <a:extLst>
              <a:ext uri="{FF2B5EF4-FFF2-40B4-BE49-F238E27FC236}">
                <a16:creationId xmlns:a16="http://schemas.microsoft.com/office/drawing/2014/main" id="{B8DB28B7-961F-DB5E-C338-D3FFB6F9A40E}"/>
              </a:ext>
            </a:extLst>
          </p:cNvPr>
          <p:cNvCxnSpPr/>
          <p:nvPr/>
        </p:nvCxnSpPr>
        <p:spPr>
          <a:xfrm>
            <a:off x="804410" y="1901198"/>
            <a:ext cx="5334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6A5CFCFA-D8D7-BE01-5AA3-703080FFEC37}"/>
              </a:ext>
            </a:extLst>
          </p:cNvPr>
          <p:cNvCxnSpPr/>
          <p:nvPr/>
        </p:nvCxnSpPr>
        <p:spPr>
          <a:xfrm>
            <a:off x="762000" y="8049517"/>
            <a:ext cx="5334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8" name="Marcador de número de diapositiva 7">
            <a:extLst>
              <a:ext uri="{FF2B5EF4-FFF2-40B4-BE49-F238E27FC236}">
                <a16:creationId xmlns:a16="http://schemas.microsoft.com/office/drawing/2014/main" id="{976A16FF-CA03-31D1-5A85-CE1B9C2BE491}"/>
              </a:ext>
            </a:extLst>
          </p:cNvPr>
          <p:cNvSpPr>
            <a:spLocks noGrp="1"/>
          </p:cNvSpPr>
          <p:nvPr>
            <p:ph type="sldNum" sz="quarter" idx="12"/>
          </p:nvPr>
        </p:nvSpPr>
        <p:spPr/>
        <p:txBody>
          <a:bodyPr/>
          <a:lstStyle/>
          <a:p>
            <a:fld id="{3CDA0B52-2607-45F8-B315-1CB26DB638C1}" type="slidenum">
              <a:rPr lang="es-ES" smtClean="0"/>
              <a:t>4</a:t>
            </a:fld>
            <a:endParaRPr lang="es-ES"/>
          </a:p>
        </p:txBody>
      </p:sp>
      <p:pic>
        <p:nvPicPr>
          <p:cNvPr id="10" name="Imagen 9">
            <a:extLst>
              <a:ext uri="{FF2B5EF4-FFF2-40B4-BE49-F238E27FC236}">
                <a16:creationId xmlns:a16="http://schemas.microsoft.com/office/drawing/2014/main" id="{8138B92E-2044-FAFF-2495-0939B1E531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6683" y="8344944"/>
            <a:ext cx="4664630" cy="3132790"/>
          </a:xfrm>
          <a:prstGeom prst="rect">
            <a:avLst/>
          </a:prstGeom>
        </p:spPr>
      </p:pic>
      <p:cxnSp>
        <p:nvCxnSpPr>
          <p:cNvPr id="2" name="Conector recto 1">
            <a:extLst>
              <a:ext uri="{FF2B5EF4-FFF2-40B4-BE49-F238E27FC236}">
                <a16:creationId xmlns:a16="http://schemas.microsoft.com/office/drawing/2014/main" id="{0E21D688-B869-EEDA-6D3E-56B6EBB7D5CF}"/>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615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C9CA-960A-377A-034E-91FF11943DF4}"/>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9FFA1615-CBD9-7C04-A48F-4E20B2FF57D3}"/>
              </a:ext>
            </a:extLst>
          </p:cNvPr>
          <p:cNvSpPr/>
          <p:nvPr/>
        </p:nvSpPr>
        <p:spPr>
          <a:xfrm>
            <a:off x="0" y="597877"/>
            <a:ext cx="4712676"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00931D0F-9A6B-3426-00B6-40F0EE0ED72E}"/>
              </a:ext>
            </a:extLst>
          </p:cNvPr>
          <p:cNvSpPr txBox="1"/>
          <p:nvPr/>
        </p:nvSpPr>
        <p:spPr>
          <a:xfrm>
            <a:off x="2810377" y="734127"/>
            <a:ext cx="1849545" cy="430887"/>
          </a:xfrm>
          <a:prstGeom prst="rect">
            <a:avLst/>
          </a:prstGeom>
          <a:noFill/>
        </p:spPr>
        <p:txBody>
          <a:bodyPr wrap="none" rtlCol="0">
            <a:spAutoFit/>
          </a:bodyPr>
          <a:lstStyle/>
          <a:p>
            <a:r>
              <a:rPr lang="es-ES" sz="2200" dirty="0">
                <a:solidFill>
                  <a:schemeClr val="bg1"/>
                </a:solidFill>
              </a:rPr>
              <a:t>ESTRUCTURA</a:t>
            </a:r>
          </a:p>
        </p:txBody>
      </p:sp>
      <p:sp>
        <p:nvSpPr>
          <p:cNvPr id="5" name="CuadroTexto 4">
            <a:extLst>
              <a:ext uri="{FF2B5EF4-FFF2-40B4-BE49-F238E27FC236}">
                <a16:creationId xmlns:a16="http://schemas.microsoft.com/office/drawing/2014/main" id="{ED6E2BD1-589F-D21A-6FC3-D7C764A09A63}"/>
              </a:ext>
            </a:extLst>
          </p:cNvPr>
          <p:cNvSpPr txBox="1"/>
          <p:nvPr/>
        </p:nvSpPr>
        <p:spPr>
          <a:xfrm>
            <a:off x="3762899" y="2772279"/>
            <a:ext cx="2867672" cy="7755969"/>
          </a:xfrm>
          <a:prstGeom prst="rect">
            <a:avLst/>
          </a:prstGeom>
          <a:noFill/>
        </p:spPr>
        <p:txBody>
          <a:bodyPr wrap="square" rtlCol="0">
            <a:spAutoFit/>
          </a:bodyPr>
          <a:lstStyle/>
          <a:p>
            <a:pPr algn="just"/>
            <a:r>
              <a:rPr lang="es-ES" sz="1200" dirty="0"/>
              <a:t>La estructura está pensada para dar una bienvenida al usuario realmente espectacular y atractiva, con grandes imágenes y elementos audiovisuales que muestran las últimas novedades.</a:t>
            </a:r>
          </a:p>
          <a:p>
            <a:pPr algn="just"/>
            <a:endParaRPr lang="es-ES" sz="1200" dirty="0"/>
          </a:p>
          <a:p>
            <a:pPr algn="just"/>
            <a:r>
              <a:rPr lang="es-ES" sz="1200" dirty="0"/>
              <a:t>Presenta una barra de navegación en la parte superior que permite el acceso a los diferentes catálogos de productos, en las que se evita el uso de iconos y se apuesta por imágenes reducidas, pero de gran calidad, que permiten identificar de forma ágil la gama de producto buscada. </a:t>
            </a:r>
          </a:p>
          <a:p>
            <a:pPr algn="just"/>
            <a:endParaRPr lang="es-ES" sz="1200" dirty="0"/>
          </a:p>
          <a:p>
            <a:pPr algn="just"/>
            <a:r>
              <a:rPr lang="es-ES" sz="1200" dirty="0"/>
              <a:t>Mediante navegación vertical, después de la barra de navegación vamos a ir encontrando varios bloques iguales que presentan, por orden de importancia, los productos destacados de cada gama (smartphone, tv, electrodomésticos. Estos bloques están conformados por un elemento audiovisual de gran calidad y tamaño, junto con un bloque de 4 partes, con productos destacados de esa gama.</a:t>
            </a:r>
          </a:p>
          <a:p>
            <a:pPr algn="just"/>
            <a:endParaRPr lang="es-ES" sz="1200" dirty="0"/>
          </a:p>
          <a:p>
            <a:pPr algn="just"/>
            <a:r>
              <a:rPr lang="es-ES" sz="1200" dirty="0"/>
              <a:t>Posteriormente se encuentran dos sliders, que ocupan el 100% de la página, donde se presentan los apartados Recomendados e Historias Samsung.</a:t>
            </a:r>
          </a:p>
          <a:p>
            <a:pPr algn="just"/>
            <a:endParaRPr lang="es-ES" sz="1200" dirty="0"/>
          </a:p>
          <a:p>
            <a:pPr algn="just"/>
            <a:r>
              <a:rPr lang="es-ES" sz="1200" dirty="0"/>
              <a:t>Finalmente se encuentra el pie con un diseño establecido en 3 partes, una superior dividida en 5 columnas, y otras dos horizontales.</a:t>
            </a:r>
          </a:p>
          <a:p>
            <a:pPr algn="just"/>
            <a:r>
              <a:rPr lang="es-ES" sz="1200" dirty="0"/>
              <a:t>Todo el contenido, excepto los sliders, se muestra centrado en la página, con márgenes muy reducidos a cada lado.</a:t>
            </a:r>
          </a:p>
          <a:p>
            <a:endParaRPr lang="es-ES" dirty="0"/>
          </a:p>
        </p:txBody>
      </p:sp>
      <p:cxnSp>
        <p:nvCxnSpPr>
          <p:cNvPr id="10" name="Conector recto 9">
            <a:extLst>
              <a:ext uri="{FF2B5EF4-FFF2-40B4-BE49-F238E27FC236}">
                <a16:creationId xmlns:a16="http://schemas.microsoft.com/office/drawing/2014/main" id="{47B7378A-B9D7-EC65-5C4C-E6A5F01E8BF1}"/>
              </a:ext>
            </a:extLst>
          </p:cNvPr>
          <p:cNvCxnSpPr>
            <a:cxnSpLocks/>
          </p:cNvCxnSpPr>
          <p:nvPr/>
        </p:nvCxnSpPr>
        <p:spPr>
          <a:xfrm>
            <a:off x="3726323" y="2772279"/>
            <a:ext cx="18288" cy="7395849"/>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pic>
        <p:nvPicPr>
          <p:cNvPr id="12" name="Imagen 11" descr="Imagen que contiene Gráfico&#10;&#10;El contenido generado por IA puede ser incorrecto.">
            <a:extLst>
              <a:ext uri="{FF2B5EF4-FFF2-40B4-BE49-F238E27FC236}">
                <a16:creationId xmlns:a16="http://schemas.microsoft.com/office/drawing/2014/main" id="{B5BBCB45-58A0-B047-2985-B5D828B8D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429" y="2269060"/>
            <a:ext cx="3064410" cy="8762409"/>
          </a:xfrm>
          <a:prstGeom prst="rect">
            <a:avLst/>
          </a:prstGeom>
          <a:effectLst>
            <a:outerShdw blurRad="50800" dist="38100" dir="8100000" algn="tr" rotWithShape="0">
              <a:prstClr val="black">
                <a:alpha val="40000"/>
              </a:prstClr>
            </a:outerShdw>
          </a:effectLst>
        </p:spPr>
      </p:pic>
      <p:sp>
        <p:nvSpPr>
          <p:cNvPr id="19" name="CuadroTexto 18">
            <a:extLst>
              <a:ext uri="{FF2B5EF4-FFF2-40B4-BE49-F238E27FC236}">
                <a16:creationId xmlns:a16="http://schemas.microsoft.com/office/drawing/2014/main" id="{443B0895-4E11-1DD7-0EC4-C85A55508807}"/>
              </a:ext>
            </a:extLst>
          </p:cNvPr>
          <p:cNvSpPr txBox="1"/>
          <p:nvPr/>
        </p:nvSpPr>
        <p:spPr>
          <a:xfrm>
            <a:off x="5196735" y="729734"/>
            <a:ext cx="1716249" cy="369332"/>
          </a:xfrm>
          <a:prstGeom prst="rect">
            <a:avLst/>
          </a:prstGeom>
          <a:noFill/>
          <a:ln>
            <a:noFill/>
          </a:ln>
        </p:spPr>
        <p:txBody>
          <a:bodyPr wrap="square" rtlCol="0">
            <a:spAutoFit/>
          </a:bodyPr>
          <a:lstStyle/>
          <a:p>
            <a:r>
              <a:rPr lang="es-ES" dirty="0">
                <a:solidFill>
                  <a:schemeClr val="bg1">
                    <a:lumMod val="50000"/>
                  </a:schemeClr>
                </a:solidFill>
              </a:rPr>
              <a:t>Pagina Inicio</a:t>
            </a:r>
          </a:p>
        </p:txBody>
      </p:sp>
      <p:sp>
        <p:nvSpPr>
          <p:cNvPr id="21" name="Marcador de número de diapositiva 20">
            <a:extLst>
              <a:ext uri="{FF2B5EF4-FFF2-40B4-BE49-F238E27FC236}">
                <a16:creationId xmlns:a16="http://schemas.microsoft.com/office/drawing/2014/main" id="{A0D955C6-9243-C6F9-F56C-55F60E0E0D83}"/>
              </a:ext>
            </a:extLst>
          </p:cNvPr>
          <p:cNvSpPr>
            <a:spLocks noGrp="1"/>
          </p:cNvSpPr>
          <p:nvPr>
            <p:ph type="sldNum" sz="quarter" idx="12"/>
          </p:nvPr>
        </p:nvSpPr>
        <p:spPr/>
        <p:txBody>
          <a:bodyPr/>
          <a:lstStyle/>
          <a:p>
            <a:fld id="{3CDA0B52-2607-45F8-B315-1CB26DB638C1}" type="slidenum">
              <a:rPr lang="es-ES" smtClean="0"/>
              <a:t>5</a:t>
            </a:fld>
            <a:endParaRPr lang="es-ES"/>
          </a:p>
        </p:txBody>
      </p:sp>
      <p:cxnSp>
        <p:nvCxnSpPr>
          <p:cNvPr id="2" name="Conector recto 1">
            <a:extLst>
              <a:ext uri="{FF2B5EF4-FFF2-40B4-BE49-F238E27FC236}">
                <a16:creationId xmlns:a16="http://schemas.microsoft.com/office/drawing/2014/main" id="{B9626630-AE43-490D-8904-1EEFCD1115AE}"/>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21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515F1-4AE8-E10B-1E5E-46D6EB33473E}"/>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ADDE37EB-93CB-4E5C-8B1B-E3B232A79429}"/>
              </a:ext>
            </a:extLst>
          </p:cNvPr>
          <p:cNvSpPr/>
          <p:nvPr/>
        </p:nvSpPr>
        <p:spPr>
          <a:xfrm>
            <a:off x="2292096" y="597877"/>
            <a:ext cx="4565903"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2CD2EC9E-DA64-86FF-7B47-52557A668BED}"/>
              </a:ext>
            </a:extLst>
          </p:cNvPr>
          <p:cNvSpPr txBox="1"/>
          <p:nvPr/>
        </p:nvSpPr>
        <p:spPr>
          <a:xfrm>
            <a:off x="2810377" y="734127"/>
            <a:ext cx="1849545" cy="430887"/>
          </a:xfrm>
          <a:prstGeom prst="rect">
            <a:avLst/>
          </a:prstGeom>
          <a:noFill/>
        </p:spPr>
        <p:txBody>
          <a:bodyPr wrap="none" rtlCol="0">
            <a:spAutoFit/>
          </a:bodyPr>
          <a:lstStyle/>
          <a:p>
            <a:r>
              <a:rPr lang="es-ES" sz="2200" dirty="0">
                <a:solidFill>
                  <a:schemeClr val="bg1"/>
                </a:solidFill>
              </a:rPr>
              <a:t>ESTRUCTURA</a:t>
            </a:r>
          </a:p>
        </p:txBody>
      </p:sp>
      <p:cxnSp>
        <p:nvCxnSpPr>
          <p:cNvPr id="10" name="Conector recto 9">
            <a:extLst>
              <a:ext uri="{FF2B5EF4-FFF2-40B4-BE49-F238E27FC236}">
                <a16:creationId xmlns:a16="http://schemas.microsoft.com/office/drawing/2014/main" id="{BB6366A8-7DCD-1DDD-FF3E-E2C7DC26DB86}"/>
              </a:ext>
            </a:extLst>
          </p:cNvPr>
          <p:cNvCxnSpPr/>
          <p:nvPr/>
        </p:nvCxnSpPr>
        <p:spPr>
          <a:xfrm>
            <a:off x="3353484" y="1742765"/>
            <a:ext cx="0" cy="10075983"/>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pic>
        <p:nvPicPr>
          <p:cNvPr id="13" name="Imagen 12" descr="Forma, Rectángulo&#10;&#10;El contenido generado por IA puede ser incorrecto.">
            <a:extLst>
              <a:ext uri="{FF2B5EF4-FFF2-40B4-BE49-F238E27FC236}">
                <a16:creationId xmlns:a16="http://schemas.microsoft.com/office/drawing/2014/main" id="{A1FCE9AC-1C2E-61BA-4F71-CBF8C1328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0557" y="2912830"/>
            <a:ext cx="3064409" cy="7233672"/>
          </a:xfrm>
          <a:prstGeom prst="rect">
            <a:avLst/>
          </a:prstGeom>
          <a:effectLst>
            <a:outerShdw blurRad="50800" dist="38100" dir="2700000" algn="tl" rotWithShape="0">
              <a:prstClr val="black">
                <a:alpha val="40000"/>
              </a:prstClr>
            </a:outerShdw>
          </a:effectLst>
        </p:spPr>
      </p:pic>
      <p:sp>
        <p:nvSpPr>
          <p:cNvPr id="7" name="CuadroTexto 6">
            <a:extLst>
              <a:ext uri="{FF2B5EF4-FFF2-40B4-BE49-F238E27FC236}">
                <a16:creationId xmlns:a16="http://schemas.microsoft.com/office/drawing/2014/main" id="{CB8B6A0A-9CFD-BF41-9C4E-0F6A05C5AB92}"/>
              </a:ext>
            </a:extLst>
          </p:cNvPr>
          <p:cNvSpPr txBox="1"/>
          <p:nvPr/>
        </p:nvSpPr>
        <p:spPr>
          <a:xfrm>
            <a:off x="140679" y="1687901"/>
            <a:ext cx="3120681" cy="10710624"/>
          </a:xfrm>
          <a:prstGeom prst="rect">
            <a:avLst/>
          </a:prstGeom>
          <a:noFill/>
        </p:spPr>
        <p:txBody>
          <a:bodyPr wrap="square" rtlCol="0">
            <a:spAutoFit/>
          </a:bodyPr>
          <a:lstStyle/>
          <a:p>
            <a:pPr algn="just"/>
            <a:r>
              <a:rPr lang="es-ES" sz="1200" dirty="0"/>
              <a:t>La página de catálogo está estructurada teniendo en cuenta su finalidad principal como e-</a:t>
            </a:r>
            <a:r>
              <a:rPr lang="es-ES" sz="1200" dirty="0" err="1"/>
              <a:t>commerce</a:t>
            </a:r>
            <a:r>
              <a:rPr lang="es-ES" sz="1200" dirty="0"/>
              <a:t>. </a:t>
            </a:r>
          </a:p>
          <a:p>
            <a:pPr algn="just"/>
            <a:endParaRPr lang="es-ES" sz="1200" dirty="0"/>
          </a:p>
          <a:p>
            <a:pPr algn="just"/>
            <a:r>
              <a:rPr lang="es-ES" sz="1200" dirty="0"/>
              <a:t>Arriba se mantiene la misma cabecera que en la página de inicio. A continuación  hay un slider que muestra los diferentes modelos para cada gama de productos. Permite una navegación a izquierda/derecha mediante botones, o con la función de arrastrar con el ratón.</a:t>
            </a:r>
          </a:p>
          <a:p>
            <a:pPr algn="just"/>
            <a:endParaRPr lang="es-ES" sz="1200" dirty="0"/>
          </a:p>
          <a:p>
            <a:pPr algn="just"/>
            <a:r>
              <a:rPr lang="es-ES" sz="1200" dirty="0"/>
              <a:t>A continuación viene el bloque principal de la página, dividido en dos apartados. Hay un aside de aproximadamente 1/3 del ancho de la página, en el que se muestran los diferentes filtros para las opciones de cada gama de productos. En el otro bloque, que ocupa el resto de la página (2/3 aproximadamente) hay una parrilla de 3x4 (inicialmente, se puede seleccionar mostrar más productos) que muestra los productos de cada gama que cumplen los filtros seleccionados.</a:t>
            </a:r>
          </a:p>
          <a:p>
            <a:pPr algn="just"/>
            <a:endParaRPr lang="es-ES" sz="1200" dirty="0"/>
          </a:p>
          <a:p>
            <a:pPr algn="just"/>
            <a:r>
              <a:rPr lang="es-ES" sz="1200" dirty="0"/>
              <a:t>Cada bloque de la parrilla presenta la información del producto estructurada en los siguientes apartados</a:t>
            </a:r>
          </a:p>
          <a:p>
            <a:pPr marL="171450" lvl="0" indent="-171450" algn="just">
              <a:buFont typeface="Arial" panose="020B0604020202020204" pitchFamily="34" charset="0"/>
              <a:buChar char="•"/>
            </a:pPr>
            <a:r>
              <a:rPr lang="es-ES" sz="1200" dirty="0"/>
              <a:t>Slider con fotografías del producto</a:t>
            </a:r>
          </a:p>
          <a:p>
            <a:pPr marL="171450" lvl="0" indent="-171450" algn="just">
              <a:buFont typeface="Arial" panose="020B0604020202020204" pitchFamily="34" charset="0"/>
              <a:buChar char="•"/>
            </a:pPr>
            <a:r>
              <a:rPr lang="es-ES" sz="1200" dirty="0"/>
              <a:t>Texto con la descripción del producto</a:t>
            </a:r>
          </a:p>
          <a:p>
            <a:pPr marL="171450" lvl="0" indent="-171450" algn="just">
              <a:buFont typeface="Arial" panose="020B0604020202020204" pitchFamily="34" charset="0"/>
              <a:buChar char="•"/>
            </a:pPr>
            <a:r>
              <a:rPr lang="es-ES" sz="1200" dirty="0"/>
              <a:t>Enlace a la ficha de información del producto</a:t>
            </a:r>
          </a:p>
          <a:p>
            <a:pPr marL="171450" lvl="0" indent="-171450" algn="just">
              <a:buFont typeface="Arial" panose="020B0604020202020204" pitchFamily="34" charset="0"/>
              <a:buChar char="•"/>
            </a:pPr>
            <a:r>
              <a:rPr lang="es-ES" sz="1200" dirty="0"/>
              <a:t>Selección de color disponible</a:t>
            </a:r>
          </a:p>
          <a:p>
            <a:pPr marL="171450" lvl="0" indent="-171450" algn="just">
              <a:buFont typeface="Arial" panose="020B0604020202020204" pitchFamily="34" charset="0"/>
              <a:buChar char="•"/>
            </a:pPr>
            <a:r>
              <a:rPr lang="es-ES" sz="1200" dirty="0"/>
              <a:t>Opciones disponibles (capacidad, memoria, tamaño, según gama de producto)</a:t>
            </a:r>
          </a:p>
          <a:p>
            <a:pPr marL="171450" lvl="0" indent="-171450" algn="just">
              <a:buFont typeface="Arial" panose="020B0604020202020204" pitchFamily="34" charset="0"/>
              <a:buChar char="•"/>
            </a:pPr>
            <a:r>
              <a:rPr lang="es-ES" sz="1200" dirty="0"/>
              <a:t>Precio y botones de Añadir al carrito y Más información</a:t>
            </a:r>
          </a:p>
          <a:p>
            <a:pPr algn="just"/>
            <a:r>
              <a:rPr lang="es-ES" sz="1200" dirty="0"/>
              <a:t> </a:t>
            </a:r>
          </a:p>
          <a:p>
            <a:pPr algn="just"/>
            <a:r>
              <a:rPr lang="es-ES" sz="1200" dirty="0"/>
              <a:t>Bajo la parrilla se encuentra un slider con productos relacionados recomendados. Después se encuentra un bloque en el que viene información relacionada con información de los servicios postventa, </a:t>
            </a:r>
            <a:r>
              <a:rPr lang="es-ES" sz="1200" dirty="0" err="1"/>
              <a:t>FAQs</a:t>
            </a:r>
            <a:r>
              <a:rPr lang="es-ES" sz="1200" dirty="0"/>
              <a:t>, financiación, </a:t>
            </a:r>
            <a:r>
              <a:rPr lang="es-ES" sz="1200" dirty="0" err="1"/>
              <a:t>etc</a:t>
            </a:r>
            <a:endParaRPr lang="es-ES" sz="1200" dirty="0"/>
          </a:p>
          <a:p>
            <a:pPr algn="just"/>
            <a:endParaRPr lang="es-ES" sz="1200" dirty="0"/>
          </a:p>
          <a:p>
            <a:pPr algn="just"/>
            <a:r>
              <a:rPr lang="es-ES" sz="1200" dirty="0"/>
              <a:t>Por último, encontramos el pie, que se mantiene igual que en la página principal, con la excepción del añadido de un bloque horizontal, previo al bloque de 5 columnas principal, en donde se muestra un elemento miga de pan, que nos indica dónde estamos dentro de la jerarquía de la página, y nos permitirá acceder directamente a otras gamas de productos o directamente al Home.</a:t>
            </a:r>
          </a:p>
          <a:p>
            <a:endParaRPr lang="es-ES" dirty="0"/>
          </a:p>
        </p:txBody>
      </p:sp>
      <p:sp>
        <p:nvSpPr>
          <p:cNvPr id="9" name="CuadroTexto 8">
            <a:extLst>
              <a:ext uri="{FF2B5EF4-FFF2-40B4-BE49-F238E27FC236}">
                <a16:creationId xmlns:a16="http://schemas.microsoft.com/office/drawing/2014/main" id="{04748C60-4804-BB6A-C250-E6EFB7B107B4}"/>
              </a:ext>
            </a:extLst>
          </p:cNvPr>
          <p:cNvSpPr txBox="1"/>
          <p:nvPr/>
        </p:nvSpPr>
        <p:spPr>
          <a:xfrm>
            <a:off x="169935" y="705571"/>
            <a:ext cx="2381302" cy="369332"/>
          </a:xfrm>
          <a:prstGeom prst="rect">
            <a:avLst/>
          </a:prstGeom>
          <a:noFill/>
          <a:ln>
            <a:noFill/>
          </a:ln>
        </p:spPr>
        <p:txBody>
          <a:bodyPr wrap="square" rtlCol="0">
            <a:spAutoFit/>
          </a:bodyPr>
          <a:lstStyle/>
          <a:p>
            <a:r>
              <a:rPr lang="es-ES" dirty="0">
                <a:solidFill>
                  <a:schemeClr val="bg1">
                    <a:lumMod val="50000"/>
                  </a:schemeClr>
                </a:solidFill>
              </a:rPr>
              <a:t>Pagina Catálogo</a:t>
            </a:r>
          </a:p>
        </p:txBody>
      </p:sp>
      <p:sp>
        <p:nvSpPr>
          <p:cNvPr id="14" name="Marcador de número de diapositiva 13">
            <a:extLst>
              <a:ext uri="{FF2B5EF4-FFF2-40B4-BE49-F238E27FC236}">
                <a16:creationId xmlns:a16="http://schemas.microsoft.com/office/drawing/2014/main" id="{7483D561-FA87-A7D4-06D3-B3A2B0CCE42A}"/>
              </a:ext>
            </a:extLst>
          </p:cNvPr>
          <p:cNvSpPr>
            <a:spLocks noGrp="1"/>
          </p:cNvSpPr>
          <p:nvPr>
            <p:ph type="sldNum" sz="quarter" idx="12"/>
          </p:nvPr>
        </p:nvSpPr>
        <p:spPr/>
        <p:txBody>
          <a:bodyPr/>
          <a:lstStyle/>
          <a:p>
            <a:fld id="{3CDA0B52-2607-45F8-B315-1CB26DB638C1}" type="slidenum">
              <a:rPr lang="es-ES" smtClean="0"/>
              <a:t>6</a:t>
            </a:fld>
            <a:endParaRPr lang="es-ES"/>
          </a:p>
        </p:txBody>
      </p:sp>
      <p:cxnSp>
        <p:nvCxnSpPr>
          <p:cNvPr id="2" name="Conector recto 1">
            <a:extLst>
              <a:ext uri="{FF2B5EF4-FFF2-40B4-BE49-F238E27FC236}">
                <a16:creationId xmlns:a16="http://schemas.microsoft.com/office/drawing/2014/main" id="{5820BDCF-E3DA-5075-77E9-6903DF53711F}"/>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0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F044D-4F35-C98B-BFB1-478D8053D222}"/>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6EB2CD9E-2503-E661-A1AD-105EC4C70D28}"/>
              </a:ext>
            </a:extLst>
          </p:cNvPr>
          <p:cNvSpPr/>
          <p:nvPr/>
        </p:nvSpPr>
        <p:spPr>
          <a:xfrm>
            <a:off x="0" y="597877"/>
            <a:ext cx="4712676"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B90FD525-252B-62FF-40BE-C4ED3805B189}"/>
              </a:ext>
            </a:extLst>
          </p:cNvPr>
          <p:cNvSpPr txBox="1"/>
          <p:nvPr/>
        </p:nvSpPr>
        <p:spPr>
          <a:xfrm>
            <a:off x="2810377" y="734127"/>
            <a:ext cx="1849545" cy="430887"/>
          </a:xfrm>
          <a:prstGeom prst="rect">
            <a:avLst/>
          </a:prstGeom>
          <a:noFill/>
        </p:spPr>
        <p:txBody>
          <a:bodyPr wrap="none" rtlCol="0">
            <a:spAutoFit/>
          </a:bodyPr>
          <a:lstStyle/>
          <a:p>
            <a:r>
              <a:rPr lang="es-ES" sz="2200" dirty="0">
                <a:solidFill>
                  <a:schemeClr val="bg1"/>
                </a:solidFill>
              </a:rPr>
              <a:t>ESTRUCTURA</a:t>
            </a:r>
          </a:p>
        </p:txBody>
      </p:sp>
      <p:sp>
        <p:nvSpPr>
          <p:cNvPr id="5" name="CuadroTexto 4">
            <a:extLst>
              <a:ext uri="{FF2B5EF4-FFF2-40B4-BE49-F238E27FC236}">
                <a16:creationId xmlns:a16="http://schemas.microsoft.com/office/drawing/2014/main" id="{02BE3D79-9553-93B4-3180-B3910E9F4886}"/>
              </a:ext>
            </a:extLst>
          </p:cNvPr>
          <p:cNvSpPr txBox="1"/>
          <p:nvPr/>
        </p:nvSpPr>
        <p:spPr>
          <a:xfrm>
            <a:off x="3429000" y="1666042"/>
            <a:ext cx="3183283" cy="10525958"/>
          </a:xfrm>
          <a:prstGeom prst="rect">
            <a:avLst/>
          </a:prstGeom>
          <a:noFill/>
        </p:spPr>
        <p:txBody>
          <a:bodyPr wrap="square" rtlCol="0">
            <a:spAutoFit/>
          </a:bodyPr>
          <a:lstStyle/>
          <a:p>
            <a:pPr algn="just"/>
            <a:r>
              <a:rPr lang="es-ES" sz="1200" dirty="0"/>
              <a:t>Se mantiene la misma cabecera que en la página de inicio. A continuación se muestra un bloque con 7 elementos, que proporcionan el acceso a las ofertas destacadas de cada gama de productos.</a:t>
            </a:r>
          </a:p>
          <a:p>
            <a:pPr algn="just"/>
            <a:r>
              <a:rPr lang="es-ES" sz="1200" dirty="0"/>
              <a:t>Justo debajo, un slider con ofertas de productos destacados, presentando de forma muy clara y concisa la información más relevante (descripción, opciones y precio), enfatizando el uso de imágenes del producto.</a:t>
            </a:r>
          </a:p>
          <a:p>
            <a:pPr algn="just"/>
            <a:r>
              <a:rPr lang="es-ES" sz="1200" dirty="0"/>
              <a:t>El siguiente apartado que encontramos en la navegación vertical se trata de un slider que muestra información de los diferentes servicios </a:t>
            </a:r>
            <a:r>
              <a:rPr lang="es-ES" sz="1200" dirty="0" err="1"/>
              <a:t>post-venta</a:t>
            </a:r>
            <a:r>
              <a:rPr lang="es-ES" sz="1200" dirty="0"/>
              <a:t> que ofrece la compañía.</a:t>
            </a:r>
          </a:p>
          <a:p>
            <a:pPr algn="just"/>
            <a:r>
              <a:rPr lang="es-ES" sz="1200" dirty="0"/>
              <a:t>A continuación se presenta un bloque conformado por un menú horizontal que consta de 5 elementos que permite seleccionar las diferentes gamas de producto, y un bloque de 4 elementos en el que se muestran los destacados de la gama seleccionada en el menú anterior.</a:t>
            </a:r>
          </a:p>
          <a:p>
            <a:pPr algn="just"/>
            <a:r>
              <a:rPr lang="es-ES" sz="1200" dirty="0"/>
              <a:t>Sigue un slider que presenta productos recomendados y a continuación un bloque de 4 elementos que muestran información sobre ofertas destacadas.</a:t>
            </a:r>
          </a:p>
          <a:p>
            <a:pPr algn="just"/>
            <a:r>
              <a:rPr lang="es-ES" sz="1200" dirty="0"/>
              <a:t>Un nuevo slider muestra información sobre las ofertas especiales que la </a:t>
            </a:r>
            <a:r>
              <a:rPr lang="es-ES" sz="1200" dirty="0" err="1"/>
              <a:t>compaía</a:t>
            </a:r>
            <a:r>
              <a:rPr lang="es-ES" sz="1200" dirty="0"/>
              <a:t> ofrece.</a:t>
            </a:r>
          </a:p>
          <a:p>
            <a:pPr algn="just"/>
            <a:r>
              <a:rPr lang="es-ES" sz="1200" dirty="0"/>
              <a:t>Por último, encontramos el pie, que se mantiene igual que en la página principal, con la excepción del añadido de un bloque horizontal, previo al bloque de 5 columnas principal, en donde se muestra un elemento miga de pan, que nos indica dónde estamos dentro de la jerarquía de la página, y nos permitirá acceder directamente a otras gamas de productos o directamente al Home.</a:t>
            </a:r>
          </a:p>
          <a:p>
            <a:pPr algn="just"/>
            <a:r>
              <a:rPr lang="es-ES" sz="1200" dirty="0"/>
              <a:t>Toda la información se muestra centrada en la página, con la excepción ya comentada de los sliders, que ocupan todo el ancho de la página. </a:t>
            </a:r>
          </a:p>
          <a:p>
            <a:pPr algn="just"/>
            <a:r>
              <a:rPr lang="es-ES" sz="1200" dirty="0"/>
              <a:t>Con la finalidad de atraer la atención del consumidor, todos los apartados donde se muestra información de producto están conformados por elementos grandes, de cara a poder presentar de forma clara toda la información relevante del producto, como son las distintas opciones y el precio, así como presentar una imagen de alta calidad del producto que, además de identificarlo, lo presenta de forma atractiva al usuario.</a:t>
            </a:r>
          </a:p>
          <a:p>
            <a:pPr algn="just"/>
            <a:r>
              <a:rPr lang="es-ES" sz="1200" dirty="0"/>
              <a:t>La estructura y diseño de los elementos consiguen que la navegación sea muy intuitiva y amigable. </a:t>
            </a:r>
          </a:p>
          <a:p>
            <a:endParaRPr lang="es-ES" dirty="0"/>
          </a:p>
        </p:txBody>
      </p:sp>
      <p:cxnSp>
        <p:nvCxnSpPr>
          <p:cNvPr id="10" name="Conector recto 9">
            <a:extLst>
              <a:ext uri="{FF2B5EF4-FFF2-40B4-BE49-F238E27FC236}">
                <a16:creationId xmlns:a16="http://schemas.microsoft.com/office/drawing/2014/main" id="{E572B142-0D93-BC29-F98D-BECF7D2018F0}"/>
              </a:ext>
            </a:extLst>
          </p:cNvPr>
          <p:cNvCxnSpPr>
            <a:cxnSpLocks/>
          </p:cNvCxnSpPr>
          <p:nvPr/>
        </p:nvCxnSpPr>
        <p:spPr>
          <a:xfrm>
            <a:off x="3406283" y="1666042"/>
            <a:ext cx="0" cy="1011143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BDB1BF3A-8CCB-CF14-9070-D8A3B32FB2CE}"/>
              </a:ext>
            </a:extLst>
          </p:cNvPr>
          <p:cNvSpPr txBox="1"/>
          <p:nvPr/>
        </p:nvSpPr>
        <p:spPr>
          <a:xfrm>
            <a:off x="5141751" y="729734"/>
            <a:ext cx="1716249" cy="369332"/>
          </a:xfrm>
          <a:prstGeom prst="rect">
            <a:avLst/>
          </a:prstGeom>
          <a:noFill/>
          <a:ln>
            <a:noFill/>
          </a:ln>
        </p:spPr>
        <p:txBody>
          <a:bodyPr wrap="square" rtlCol="0">
            <a:spAutoFit/>
          </a:bodyPr>
          <a:lstStyle/>
          <a:p>
            <a:r>
              <a:rPr lang="es-ES" dirty="0">
                <a:solidFill>
                  <a:schemeClr val="bg1">
                    <a:lumMod val="50000"/>
                  </a:schemeClr>
                </a:solidFill>
              </a:rPr>
              <a:t>Pagina Tienda</a:t>
            </a:r>
          </a:p>
        </p:txBody>
      </p:sp>
      <p:pic>
        <p:nvPicPr>
          <p:cNvPr id="7" name="Imagen 6" descr="Gráfico&#10;&#10;El contenido generado por IA puede ser incorrecto.">
            <a:extLst>
              <a:ext uri="{FF2B5EF4-FFF2-40B4-BE49-F238E27FC236}">
                <a16:creationId xmlns:a16="http://schemas.microsoft.com/office/drawing/2014/main" id="{0955F140-FEAF-3130-DF24-824BB12E33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717" y="3446696"/>
            <a:ext cx="2950442" cy="6964650"/>
          </a:xfrm>
          <a:prstGeom prst="rect">
            <a:avLst/>
          </a:prstGeom>
          <a:effectLst>
            <a:outerShdw blurRad="50800" dist="38100" dir="8100000" algn="tr" rotWithShape="0">
              <a:prstClr val="black">
                <a:alpha val="40000"/>
              </a:prstClr>
            </a:outerShdw>
          </a:effectLst>
        </p:spPr>
      </p:pic>
      <p:sp>
        <p:nvSpPr>
          <p:cNvPr id="8" name="Marcador de número de diapositiva 7">
            <a:extLst>
              <a:ext uri="{FF2B5EF4-FFF2-40B4-BE49-F238E27FC236}">
                <a16:creationId xmlns:a16="http://schemas.microsoft.com/office/drawing/2014/main" id="{3A3E78F0-25A7-2472-2CD7-480F7AA8983C}"/>
              </a:ext>
            </a:extLst>
          </p:cNvPr>
          <p:cNvSpPr>
            <a:spLocks noGrp="1"/>
          </p:cNvSpPr>
          <p:nvPr>
            <p:ph type="sldNum" sz="quarter" idx="12"/>
          </p:nvPr>
        </p:nvSpPr>
        <p:spPr/>
        <p:txBody>
          <a:bodyPr/>
          <a:lstStyle/>
          <a:p>
            <a:fld id="{3CDA0B52-2607-45F8-B315-1CB26DB638C1}" type="slidenum">
              <a:rPr lang="es-ES" smtClean="0"/>
              <a:t>7</a:t>
            </a:fld>
            <a:endParaRPr lang="es-ES"/>
          </a:p>
        </p:txBody>
      </p:sp>
      <p:cxnSp>
        <p:nvCxnSpPr>
          <p:cNvPr id="2" name="Conector recto 1">
            <a:extLst>
              <a:ext uri="{FF2B5EF4-FFF2-40B4-BE49-F238E27FC236}">
                <a16:creationId xmlns:a16="http://schemas.microsoft.com/office/drawing/2014/main" id="{20612C31-912D-F0E4-CFB8-55F09AB30725}"/>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761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AA786D-DFBB-5855-E0B4-8A530166AAF7}"/>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01C4525A-A2CA-C1C4-7891-B2CD62E7B329}"/>
              </a:ext>
            </a:extLst>
          </p:cNvPr>
          <p:cNvSpPr/>
          <p:nvPr/>
        </p:nvSpPr>
        <p:spPr>
          <a:xfrm>
            <a:off x="477686" y="8669404"/>
            <a:ext cx="5902628" cy="2171283"/>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esquinas redondeadas 1">
            <a:extLst>
              <a:ext uri="{FF2B5EF4-FFF2-40B4-BE49-F238E27FC236}">
                <a16:creationId xmlns:a16="http://schemas.microsoft.com/office/drawing/2014/main" id="{7DB6CD0B-E97E-53FB-981C-A773BCA56C9D}"/>
              </a:ext>
            </a:extLst>
          </p:cNvPr>
          <p:cNvSpPr/>
          <p:nvPr/>
        </p:nvSpPr>
        <p:spPr>
          <a:xfrm>
            <a:off x="367238" y="3448112"/>
            <a:ext cx="5902628" cy="2171283"/>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AD95F932-910D-C322-D2A9-561A976ED34A}"/>
              </a:ext>
            </a:extLst>
          </p:cNvPr>
          <p:cNvSpPr/>
          <p:nvPr/>
        </p:nvSpPr>
        <p:spPr>
          <a:xfrm>
            <a:off x="2292096" y="597877"/>
            <a:ext cx="4565903" cy="633046"/>
          </a:xfrm>
          <a:prstGeom prst="rect">
            <a:avLst/>
          </a:prstGeom>
          <a:solidFill>
            <a:srgbClr val="2A2C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E44AF194-17B0-5739-149B-2CB69B1D56E0}"/>
              </a:ext>
            </a:extLst>
          </p:cNvPr>
          <p:cNvSpPr txBox="1"/>
          <p:nvPr/>
        </p:nvSpPr>
        <p:spPr>
          <a:xfrm>
            <a:off x="2392874" y="734127"/>
            <a:ext cx="1688796" cy="430887"/>
          </a:xfrm>
          <a:prstGeom prst="rect">
            <a:avLst/>
          </a:prstGeom>
          <a:noFill/>
        </p:spPr>
        <p:txBody>
          <a:bodyPr wrap="none" rtlCol="0">
            <a:spAutoFit/>
          </a:bodyPr>
          <a:lstStyle/>
          <a:p>
            <a:r>
              <a:rPr lang="es-ES" sz="2200" dirty="0">
                <a:solidFill>
                  <a:schemeClr val="bg1"/>
                </a:solidFill>
              </a:rPr>
              <a:t>TIPOGRAFÍA</a:t>
            </a:r>
          </a:p>
        </p:txBody>
      </p:sp>
      <p:cxnSp>
        <p:nvCxnSpPr>
          <p:cNvPr id="10" name="Conector recto 9">
            <a:extLst>
              <a:ext uri="{FF2B5EF4-FFF2-40B4-BE49-F238E27FC236}">
                <a16:creationId xmlns:a16="http://schemas.microsoft.com/office/drawing/2014/main" id="{5164D0A7-D409-AFAD-7AB2-02FFD0166C94}"/>
              </a:ext>
            </a:extLst>
          </p:cNvPr>
          <p:cNvCxnSpPr>
            <a:cxnSpLocks/>
          </p:cNvCxnSpPr>
          <p:nvPr/>
        </p:nvCxnSpPr>
        <p:spPr>
          <a:xfrm>
            <a:off x="481082" y="6287549"/>
            <a:ext cx="5902628"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A430A2C8-ED33-FB88-3B86-3F2AF729B305}"/>
              </a:ext>
            </a:extLst>
          </p:cNvPr>
          <p:cNvSpPr txBox="1"/>
          <p:nvPr/>
        </p:nvSpPr>
        <p:spPr>
          <a:xfrm>
            <a:off x="443308" y="1700784"/>
            <a:ext cx="3871573" cy="307777"/>
          </a:xfrm>
          <a:prstGeom prst="rect">
            <a:avLst/>
          </a:prstGeom>
          <a:noFill/>
        </p:spPr>
        <p:txBody>
          <a:bodyPr wrap="none" rtlCol="0">
            <a:spAutoFit/>
          </a:bodyPr>
          <a:lstStyle/>
          <a:p>
            <a:r>
              <a:rPr lang="es-ES" sz="1400" dirty="0"/>
              <a:t>Se utilizará en toda la página la fuente Samsung</a:t>
            </a:r>
          </a:p>
        </p:txBody>
      </p:sp>
      <p:sp>
        <p:nvSpPr>
          <p:cNvPr id="17" name="CuadroTexto 16">
            <a:extLst>
              <a:ext uri="{FF2B5EF4-FFF2-40B4-BE49-F238E27FC236}">
                <a16:creationId xmlns:a16="http://schemas.microsoft.com/office/drawing/2014/main" id="{1DC04865-B06B-6E5D-0273-30C8F560678F}"/>
              </a:ext>
            </a:extLst>
          </p:cNvPr>
          <p:cNvSpPr txBox="1"/>
          <p:nvPr/>
        </p:nvSpPr>
        <p:spPr>
          <a:xfrm>
            <a:off x="367238" y="3622346"/>
            <a:ext cx="5662568" cy="1908215"/>
          </a:xfrm>
          <a:prstGeom prst="rect">
            <a:avLst/>
          </a:prstGeom>
          <a:noFill/>
        </p:spPr>
        <p:txBody>
          <a:bodyPr wrap="square" rtlCol="0">
            <a:spAutoFit/>
          </a:bodyPr>
          <a:lstStyle/>
          <a:p>
            <a:r>
              <a:rPr lang="en-US" sz="4000" dirty="0">
                <a:latin typeface="Samsung Sharp Sans" pitchFamily="2" charset="0"/>
                <a:ea typeface="Samsung Sharp Sans" pitchFamily="2" charset="0"/>
                <a:cs typeface="Samsung Sharp Sans" pitchFamily="2" charset="0"/>
              </a:rPr>
              <a:t>Samsung Sharp Sans</a:t>
            </a:r>
          </a:p>
          <a:p>
            <a:r>
              <a:rPr lang="en-US" sz="3000" dirty="0" err="1">
                <a:latin typeface="Samsung Sharp Sans" pitchFamily="2" charset="0"/>
                <a:ea typeface="Samsung Sharp Sans" pitchFamily="2" charset="0"/>
                <a:cs typeface="Samsung Sharp Sans" pitchFamily="2" charset="0"/>
              </a:rPr>
              <a:t>Abcdefghijklmnopqrstuvxyz</a:t>
            </a:r>
            <a:r>
              <a:rPr lang="en-US" sz="3000" dirty="0">
                <a:latin typeface="Samsung Sharp Sans" pitchFamily="2" charset="0"/>
                <a:ea typeface="Samsung Sharp Sans" pitchFamily="2" charset="0"/>
                <a:cs typeface="Samsung Sharp Sans" pitchFamily="2" charset="0"/>
              </a:rPr>
              <a:t> - 0123456789</a:t>
            </a:r>
            <a:endParaRPr lang="es-ES" sz="3000" dirty="0">
              <a:latin typeface="Samsung Sharp Sans" pitchFamily="2" charset="0"/>
              <a:ea typeface="Samsung Sharp Sans" pitchFamily="2" charset="0"/>
              <a:cs typeface="Samsung Sharp Sans" pitchFamily="2" charset="0"/>
            </a:endParaRPr>
          </a:p>
          <a:p>
            <a:endParaRPr lang="es-ES" dirty="0"/>
          </a:p>
        </p:txBody>
      </p:sp>
      <p:sp>
        <p:nvSpPr>
          <p:cNvPr id="18" name="CuadroTexto 17">
            <a:extLst>
              <a:ext uri="{FF2B5EF4-FFF2-40B4-BE49-F238E27FC236}">
                <a16:creationId xmlns:a16="http://schemas.microsoft.com/office/drawing/2014/main" id="{4AA35F43-62D9-1B55-7177-1F6ADCD91CBC}"/>
              </a:ext>
            </a:extLst>
          </p:cNvPr>
          <p:cNvSpPr txBox="1"/>
          <p:nvPr/>
        </p:nvSpPr>
        <p:spPr>
          <a:xfrm>
            <a:off x="633867" y="8932472"/>
            <a:ext cx="5662568" cy="1908215"/>
          </a:xfrm>
          <a:prstGeom prst="rect">
            <a:avLst/>
          </a:prstGeom>
          <a:noFill/>
        </p:spPr>
        <p:txBody>
          <a:bodyPr wrap="square" rtlCol="0">
            <a:spAutoFit/>
          </a:bodyPr>
          <a:lstStyle/>
          <a:p>
            <a:pPr algn="r"/>
            <a:r>
              <a:rPr lang="en-US" sz="4000" dirty="0">
                <a:latin typeface="SamsungOne 400" panose="020B0503030303020204" pitchFamily="34" charset="0"/>
                <a:ea typeface="SamsungOne 400" panose="020B0503030303020204" pitchFamily="34" charset="0"/>
                <a:cs typeface="Samsung Sharp Sans" pitchFamily="2" charset="0"/>
              </a:rPr>
              <a:t>Samsung One</a:t>
            </a:r>
          </a:p>
          <a:p>
            <a:pPr algn="r"/>
            <a:r>
              <a:rPr lang="en-US" sz="3000" dirty="0" err="1">
                <a:latin typeface="SamsungOne 400" panose="020B0503030303020204" pitchFamily="34" charset="0"/>
                <a:ea typeface="SamsungOne 400" panose="020B0503030303020204" pitchFamily="34" charset="0"/>
                <a:cs typeface="Samsung Sharp Sans" pitchFamily="2" charset="0"/>
              </a:rPr>
              <a:t>Abcdefghijklmnopqrstuvxyz</a:t>
            </a:r>
            <a:r>
              <a:rPr lang="en-US" sz="3000" dirty="0">
                <a:latin typeface="SamsungOne 400" panose="020B0503030303020204" pitchFamily="34" charset="0"/>
                <a:ea typeface="SamsungOne 400" panose="020B0503030303020204" pitchFamily="34" charset="0"/>
                <a:cs typeface="Samsung Sharp Sans" pitchFamily="2" charset="0"/>
              </a:rPr>
              <a:t> - 0123456789</a:t>
            </a:r>
            <a:endParaRPr lang="es-ES" sz="3000" dirty="0">
              <a:latin typeface="SamsungOne 400" panose="020B0503030303020204" pitchFamily="34" charset="0"/>
              <a:ea typeface="SamsungOne 400" panose="020B0503030303020204" pitchFamily="34" charset="0"/>
              <a:cs typeface="Samsung Sharp Sans" pitchFamily="2" charset="0"/>
            </a:endParaRPr>
          </a:p>
          <a:p>
            <a:endParaRPr lang="es-ES" dirty="0"/>
          </a:p>
        </p:txBody>
      </p:sp>
      <p:sp>
        <p:nvSpPr>
          <p:cNvPr id="19" name="CuadroTexto 18">
            <a:extLst>
              <a:ext uri="{FF2B5EF4-FFF2-40B4-BE49-F238E27FC236}">
                <a16:creationId xmlns:a16="http://schemas.microsoft.com/office/drawing/2014/main" id="{0757F80E-B5DB-32C4-E0A4-9E8BE6BB242D}"/>
              </a:ext>
            </a:extLst>
          </p:cNvPr>
          <p:cNvSpPr txBox="1"/>
          <p:nvPr/>
        </p:nvSpPr>
        <p:spPr>
          <a:xfrm>
            <a:off x="443308" y="2863337"/>
            <a:ext cx="2630528" cy="584775"/>
          </a:xfrm>
          <a:prstGeom prst="rect">
            <a:avLst/>
          </a:prstGeom>
          <a:noFill/>
        </p:spPr>
        <p:txBody>
          <a:bodyPr wrap="none" rtlCol="0">
            <a:spAutoFit/>
          </a:bodyPr>
          <a:lstStyle/>
          <a:p>
            <a:r>
              <a:rPr lang="en-US" sz="1400" dirty="0" err="1"/>
              <a:t>Textos</a:t>
            </a:r>
            <a:r>
              <a:rPr lang="en-US" sz="1400" dirty="0"/>
              <a:t> h2: Samsung Sharp Sans</a:t>
            </a:r>
            <a:endParaRPr lang="es-ES" sz="1400" dirty="0"/>
          </a:p>
          <a:p>
            <a:endParaRPr lang="es-ES" dirty="0"/>
          </a:p>
        </p:txBody>
      </p:sp>
      <p:sp>
        <p:nvSpPr>
          <p:cNvPr id="20" name="CuadroTexto 19">
            <a:extLst>
              <a:ext uri="{FF2B5EF4-FFF2-40B4-BE49-F238E27FC236}">
                <a16:creationId xmlns:a16="http://schemas.microsoft.com/office/drawing/2014/main" id="{CBEE9493-CDE6-E85A-959D-7A420AEDE51C}"/>
              </a:ext>
            </a:extLst>
          </p:cNvPr>
          <p:cNvSpPr txBox="1"/>
          <p:nvPr/>
        </p:nvSpPr>
        <p:spPr>
          <a:xfrm>
            <a:off x="3362167" y="8185001"/>
            <a:ext cx="2930289" cy="584775"/>
          </a:xfrm>
          <a:prstGeom prst="rect">
            <a:avLst/>
          </a:prstGeom>
          <a:noFill/>
        </p:spPr>
        <p:txBody>
          <a:bodyPr wrap="none" rtlCol="0">
            <a:spAutoFit/>
          </a:bodyPr>
          <a:lstStyle/>
          <a:p>
            <a:pPr lvl="0"/>
            <a:r>
              <a:rPr lang="en-US" sz="1400" dirty="0" err="1"/>
              <a:t>Textos</a:t>
            </a:r>
            <a:r>
              <a:rPr lang="en-US" sz="1400" dirty="0"/>
              <a:t> h3, h4, h5, h6: Samsung One</a:t>
            </a:r>
            <a:endParaRPr lang="es-ES" sz="1400" dirty="0"/>
          </a:p>
          <a:p>
            <a:endParaRPr lang="es-ES" dirty="0"/>
          </a:p>
        </p:txBody>
      </p:sp>
      <p:sp>
        <p:nvSpPr>
          <p:cNvPr id="21" name="CuadroTexto 20">
            <a:extLst>
              <a:ext uri="{FF2B5EF4-FFF2-40B4-BE49-F238E27FC236}">
                <a16:creationId xmlns:a16="http://schemas.microsoft.com/office/drawing/2014/main" id="{6D40869E-BD1C-E197-B8AC-CA536AD8153F}"/>
              </a:ext>
            </a:extLst>
          </p:cNvPr>
          <p:cNvSpPr txBox="1"/>
          <p:nvPr/>
        </p:nvSpPr>
        <p:spPr>
          <a:xfrm>
            <a:off x="520512" y="6488717"/>
            <a:ext cx="5816976" cy="1231106"/>
          </a:xfrm>
          <a:prstGeom prst="rect">
            <a:avLst/>
          </a:prstGeom>
          <a:noFill/>
        </p:spPr>
        <p:txBody>
          <a:bodyPr wrap="square" rtlCol="0">
            <a:spAutoFit/>
          </a:bodyPr>
          <a:lstStyle/>
          <a:p>
            <a:pPr algn="just"/>
            <a:r>
              <a:rPr lang="es-ES" sz="1400" dirty="0"/>
              <a:t>Se trata de una fuente diseñada para transmitir una imagen moderna y contemporánea. Compatible con multitud de idiomas, es utilizada en todos los ámbitos de Samsung (productos, envases, marketing, </a:t>
            </a:r>
            <a:r>
              <a:rPr lang="es-ES" sz="1400" dirty="0" err="1"/>
              <a:t>etc</a:t>
            </a:r>
            <a:r>
              <a:rPr lang="es-ES" sz="1400" dirty="0"/>
              <a:t>) para ofrecer una imagen de marca verdaderamente global.</a:t>
            </a:r>
          </a:p>
          <a:p>
            <a:endParaRPr lang="es-ES" dirty="0"/>
          </a:p>
        </p:txBody>
      </p:sp>
      <p:cxnSp>
        <p:nvCxnSpPr>
          <p:cNvPr id="22" name="Conector recto 21">
            <a:extLst>
              <a:ext uri="{FF2B5EF4-FFF2-40B4-BE49-F238E27FC236}">
                <a16:creationId xmlns:a16="http://schemas.microsoft.com/office/drawing/2014/main" id="{65CF9C6C-8FB8-5B29-A91B-C649BAE4B601}"/>
              </a:ext>
            </a:extLst>
          </p:cNvPr>
          <p:cNvCxnSpPr>
            <a:cxnSpLocks/>
          </p:cNvCxnSpPr>
          <p:nvPr/>
        </p:nvCxnSpPr>
        <p:spPr>
          <a:xfrm>
            <a:off x="434860" y="7689343"/>
            <a:ext cx="5902628"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23" name="Marcador de número de diapositiva 22">
            <a:extLst>
              <a:ext uri="{FF2B5EF4-FFF2-40B4-BE49-F238E27FC236}">
                <a16:creationId xmlns:a16="http://schemas.microsoft.com/office/drawing/2014/main" id="{172BB702-FFF6-63FB-B237-041C172B9996}"/>
              </a:ext>
            </a:extLst>
          </p:cNvPr>
          <p:cNvSpPr>
            <a:spLocks noGrp="1"/>
          </p:cNvSpPr>
          <p:nvPr>
            <p:ph type="sldNum" sz="quarter" idx="12"/>
          </p:nvPr>
        </p:nvSpPr>
        <p:spPr/>
        <p:txBody>
          <a:bodyPr/>
          <a:lstStyle/>
          <a:p>
            <a:fld id="{3CDA0B52-2607-45F8-B315-1CB26DB638C1}" type="slidenum">
              <a:rPr lang="es-ES" smtClean="0"/>
              <a:t>8</a:t>
            </a:fld>
            <a:endParaRPr lang="es-ES"/>
          </a:p>
        </p:txBody>
      </p:sp>
      <p:cxnSp>
        <p:nvCxnSpPr>
          <p:cNvPr id="8" name="Conector recto 7">
            <a:extLst>
              <a:ext uri="{FF2B5EF4-FFF2-40B4-BE49-F238E27FC236}">
                <a16:creationId xmlns:a16="http://schemas.microsoft.com/office/drawing/2014/main" id="{4F57E222-19E4-8E91-F795-7E2ED2CF57C2}"/>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8221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911C7-0221-5BB8-D186-BEDCB8A8F4F1}"/>
            </a:ext>
          </a:extLst>
        </p:cNvPr>
        <p:cNvGrpSpPr/>
        <p:nvPr/>
      </p:nvGrpSpPr>
      <p:grpSpPr>
        <a:xfrm>
          <a:off x="0" y="0"/>
          <a:ext cx="0" cy="0"/>
          <a:chOff x="0" y="0"/>
          <a:chExt cx="0" cy="0"/>
        </a:xfrm>
      </p:grpSpPr>
      <p:sp>
        <p:nvSpPr>
          <p:cNvPr id="17" name="Rectángulo 16">
            <a:extLst>
              <a:ext uri="{FF2B5EF4-FFF2-40B4-BE49-F238E27FC236}">
                <a16:creationId xmlns:a16="http://schemas.microsoft.com/office/drawing/2014/main" id="{11AF43F2-9E36-2CE0-DF1F-419DAB85AA19}"/>
              </a:ext>
            </a:extLst>
          </p:cNvPr>
          <p:cNvSpPr/>
          <p:nvPr/>
        </p:nvSpPr>
        <p:spPr>
          <a:xfrm>
            <a:off x="4843463" y="0"/>
            <a:ext cx="2014537" cy="12192000"/>
          </a:xfrm>
          <a:prstGeom prst="rect">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Rectángulo 2">
            <a:extLst>
              <a:ext uri="{FF2B5EF4-FFF2-40B4-BE49-F238E27FC236}">
                <a16:creationId xmlns:a16="http://schemas.microsoft.com/office/drawing/2014/main" id="{E706099C-AF2E-5900-B15F-427510333893}"/>
              </a:ext>
            </a:extLst>
          </p:cNvPr>
          <p:cNvSpPr/>
          <p:nvPr/>
        </p:nvSpPr>
        <p:spPr>
          <a:xfrm>
            <a:off x="0" y="597877"/>
            <a:ext cx="4843463" cy="627857"/>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024F5679-21F4-282D-F919-BA1B1A5FD28D}"/>
              </a:ext>
            </a:extLst>
          </p:cNvPr>
          <p:cNvSpPr txBox="1"/>
          <p:nvPr/>
        </p:nvSpPr>
        <p:spPr>
          <a:xfrm>
            <a:off x="3615324" y="698956"/>
            <a:ext cx="1097352" cy="430887"/>
          </a:xfrm>
          <a:prstGeom prst="rect">
            <a:avLst/>
          </a:prstGeom>
          <a:noFill/>
        </p:spPr>
        <p:txBody>
          <a:bodyPr wrap="none" rtlCol="0">
            <a:spAutoFit/>
          </a:bodyPr>
          <a:lstStyle/>
          <a:p>
            <a:r>
              <a:rPr lang="es-ES" sz="2200" dirty="0">
                <a:solidFill>
                  <a:schemeClr val="bg1"/>
                </a:solidFill>
              </a:rPr>
              <a:t>COLOR</a:t>
            </a:r>
          </a:p>
        </p:txBody>
      </p:sp>
      <p:sp>
        <p:nvSpPr>
          <p:cNvPr id="36" name="Marcador de número de diapositiva 35">
            <a:extLst>
              <a:ext uri="{FF2B5EF4-FFF2-40B4-BE49-F238E27FC236}">
                <a16:creationId xmlns:a16="http://schemas.microsoft.com/office/drawing/2014/main" id="{49886219-7AF6-2CA1-6751-9ECFBFD36FD0}"/>
              </a:ext>
            </a:extLst>
          </p:cNvPr>
          <p:cNvSpPr>
            <a:spLocks noGrp="1"/>
          </p:cNvSpPr>
          <p:nvPr>
            <p:ph type="sldNum" sz="quarter" idx="12"/>
          </p:nvPr>
        </p:nvSpPr>
        <p:spPr/>
        <p:txBody>
          <a:bodyPr/>
          <a:lstStyle/>
          <a:p>
            <a:fld id="{3CDA0B52-2607-45F8-B315-1CB26DB638C1}" type="slidenum">
              <a:rPr lang="es-ES" smtClean="0"/>
              <a:t>9</a:t>
            </a:fld>
            <a:endParaRPr lang="es-ES"/>
          </a:p>
        </p:txBody>
      </p:sp>
      <p:sp>
        <p:nvSpPr>
          <p:cNvPr id="5" name="Elipse 4">
            <a:extLst>
              <a:ext uri="{FF2B5EF4-FFF2-40B4-BE49-F238E27FC236}">
                <a16:creationId xmlns:a16="http://schemas.microsoft.com/office/drawing/2014/main" id="{191DCD3B-2F9C-68EC-B34B-E917F5593873}"/>
              </a:ext>
            </a:extLst>
          </p:cNvPr>
          <p:cNvSpPr/>
          <p:nvPr/>
        </p:nvSpPr>
        <p:spPr>
          <a:xfrm>
            <a:off x="5433500" y="1445103"/>
            <a:ext cx="838200" cy="838200"/>
          </a:xfrm>
          <a:prstGeom prst="ellipse">
            <a:avLst/>
          </a:prstGeom>
          <a:solidFill>
            <a:schemeClr val="bg1">
              <a:alpha val="92000"/>
            </a:schemeClr>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B8258D03-83DF-6A05-4427-2DA49E2C14A8}"/>
              </a:ext>
            </a:extLst>
          </p:cNvPr>
          <p:cNvSpPr/>
          <p:nvPr/>
        </p:nvSpPr>
        <p:spPr>
          <a:xfrm>
            <a:off x="5426586" y="3843097"/>
            <a:ext cx="838200" cy="838200"/>
          </a:xfrm>
          <a:prstGeom prst="ellipse">
            <a:avLst/>
          </a:prstGeom>
          <a:solidFill>
            <a:schemeClr val="tx1">
              <a:lumMod val="95000"/>
              <a:lumOff val="5000"/>
            </a:schemeClr>
          </a:solidFill>
          <a:ln>
            <a:solidFill>
              <a:schemeClr val="tx1">
                <a:lumMod val="95000"/>
                <a:lumOff val="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4A1F9DBE-F30D-04C4-0E92-38B7268A1091}"/>
              </a:ext>
            </a:extLst>
          </p:cNvPr>
          <p:cNvSpPr/>
          <p:nvPr/>
        </p:nvSpPr>
        <p:spPr>
          <a:xfrm>
            <a:off x="5427188" y="6185964"/>
            <a:ext cx="838200" cy="838200"/>
          </a:xfrm>
          <a:prstGeom prst="ellipse">
            <a:avLst/>
          </a:prstGeom>
          <a:solidFill>
            <a:srgbClr val="FC5A3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8A6FE1FF-88E2-B9A5-0D98-91DDD47F58BF}"/>
              </a:ext>
            </a:extLst>
          </p:cNvPr>
          <p:cNvSpPr/>
          <p:nvPr/>
        </p:nvSpPr>
        <p:spPr>
          <a:xfrm>
            <a:off x="5433499" y="9832263"/>
            <a:ext cx="838200" cy="838200"/>
          </a:xfrm>
          <a:prstGeom prst="ellipse">
            <a:avLst/>
          </a:prstGeom>
          <a:solidFill>
            <a:srgbClr val="2A2C3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2F943D15-31F4-FB13-F285-9F8278A73FEE}"/>
              </a:ext>
            </a:extLst>
          </p:cNvPr>
          <p:cNvSpPr txBox="1"/>
          <p:nvPr/>
        </p:nvSpPr>
        <p:spPr>
          <a:xfrm>
            <a:off x="5068105" y="2635802"/>
            <a:ext cx="1543050" cy="646331"/>
          </a:xfrm>
          <a:prstGeom prst="rect">
            <a:avLst/>
          </a:prstGeom>
          <a:noFill/>
        </p:spPr>
        <p:txBody>
          <a:bodyPr wrap="square" rtlCol="0">
            <a:spAutoFit/>
          </a:bodyPr>
          <a:lstStyle/>
          <a:p>
            <a:pPr algn="ctr"/>
            <a:r>
              <a:rPr lang="es-ES" sz="1200" dirty="0">
                <a:solidFill>
                  <a:schemeClr val="bg1">
                    <a:lumMod val="50000"/>
                  </a:schemeClr>
                </a:solidFill>
                <a:latin typeface="SamsungOne 400" panose="020B0503030303020204" pitchFamily="34" charset="0"/>
                <a:ea typeface="SamsungOne 400" panose="020B0503030303020204" pitchFamily="34" charset="0"/>
              </a:rPr>
              <a:t>Blanco #000000</a:t>
            </a:r>
          </a:p>
          <a:p>
            <a:pPr algn="ctr"/>
            <a:r>
              <a:rPr lang="es-ES" sz="1200" dirty="0" err="1">
                <a:solidFill>
                  <a:schemeClr val="bg1">
                    <a:lumMod val="50000"/>
                  </a:schemeClr>
                </a:solidFill>
                <a:latin typeface="SamsungOne 400" panose="020B0503030303020204" pitchFamily="34" charset="0"/>
                <a:ea typeface="SamsungOne 400" panose="020B0503030303020204" pitchFamily="34" charset="0"/>
              </a:rPr>
              <a:t>rgb</a:t>
            </a:r>
            <a:r>
              <a:rPr lang="es-ES" sz="1200" dirty="0">
                <a:solidFill>
                  <a:schemeClr val="bg1">
                    <a:lumMod val="50000"/>
                  </a:schemeClr>
                </a:solidFill>
                <a:latin typeface="SamsungOne 400" panose="020B0503030303020204" pitchFamily="34" charset="0"/>
                <a:ea typeface="SamsungOne 400" panose="020B0503030303020204" pitchFamily="34" charset="0"/>
              </a:rPr>
              <a:t>(247, 247, 247)</a:t>
            </a:r>
          </a:p>
          <a:p>
            <a:endParaRPr lang="es-ES" sz="1200" dirty="0">
              <a:solidFill>
                <a:schemeClr val="bg1">
                  <a:lumMod val="50000"/>
                </a:schemeClr>
              </a:solidFill>
              <a:latin typeface="SamsungOne 400" panose="020B0503030303020204" pitchFamily="34" charset="0"/>
              <a:ea typeface="SamsungOne 400" panose="020B0503030303020204" pitchFamily="34" charset="0"/>
            </a:endParaRPr>
          </a:p>
        </p:txBody>
      </p:sp>
      <p:sp>
        <p:nvSpPr>
          <p:cNvPr id="10" name="CuadroTexto 9">
            <a:extLst>
              <a:ext uri="{FF2B5EF4-FFF2-40B4-BE49-F238E27FC236}">
                <a16:creationId xmlns:a16="http://schemas.microsoft.com/office/drawing/2014/main" id="{CB2CCE73-BF72-1833-A263-810738D6E39A}"/>
              </a:ext>
            </a:extLst>
          </p:cNvPr>
          <p:cNvSpPr txBox="1"/>
          <p:nvPr/>
        </p:nvSpPr>
        <p:spPr>
          <a:xfrm>
            <a:off x="5378543" y="4871071"/>
            <a:ext cx="1081654" cy="646331"/>
          </a:xfrm>
          <a:prstGeom prst="rect">
            <a:avLst/>
          </a:prstGeom>
          <a:noFill/>
        </p:spPr>
        <p:txBody>
          <a:bodyPr wrap="square" rtlCol="0">
            <a:spAutoFit/>
          </a:bodyPr>
          <a:lstStyle/>
          <a:p>
            <a:r>
              <a:rPr lang="es-ES" sz="1200" dirty="0">
                <a:solidFill>
                  <a:schemeClr val="bg1">
                    <a:lumMod val="50000"/>
                  </a:schemeClr>
                </a:solidFill>
                <a:latin typeface="SamsungOne 400" panose="020B0503030303020204" pitchFamily="34" charset="0"/>
                <a:ea typeface="SamsungOne 400" panose="020B0503030303020204" pitchFamily="34" charset="0"/>
              </a:rPr>
              <a:t>Negro #ffffff</a:t>
            </a:r>
          </a:p>
          <a:p>
            <a:pPr algn="ctr"/>
            <a:r>
              <a:rPr lang="es-ES" sz="1200" dirty="0" err="1">
                <a:solidFill>
                  <a:schemeClr val="bg1">
                    <a:lumMod val="50000"/>
                  </a:schemeClr>
                </a:solidFill>
                <a:latin typeface="SamsungOne 400" panose="020B0503030303020204" pitchFamily="34" charset="0"/>
                <a:ea typeface="SamsungOne 400" panose="020B0503030303020204" pitchFamily="34" charset="0"/>
              </a:rPr>
              <a:t>rgb</a:t>
            </a:r>
            <a:r>
              <a:rPr lang="es-ES" sz="1200" dirty="0">
                <a:solidFill>
                  <a:schemeClr val="bg1">
                    <a:lumMod val="50000"/>
                  </a:schemeClr>
                </a:solidFill>
                <a:latin typeface="SamsungOne 400" panose="020B0503030303020204" pitchFamily="34" charset="0"/>
                <a:ea typeface="SamsungOne 400" panose="020B0503030303020204" pitchFamily="34" charset="0"/>
              </a:rPr>
              <a:t>(0, 0, 0)</a:t>
            </a:r>
          </a:p>
          <a:p>
            <a:endParaRPr lang="es-ES" sz="1200" dirty="0">
              <a:solidFill>
                <a:schemeClr val="bg1">
                  <a:lumMod val="50000"/>
                </a:schemeClr>
              </a:solidFill>
              <a:latin typeface="SamsungOne 400" panose="020B0503030303020204" pitchFamily="34" charset="0"/>
              <a:ea typeface="SamsungOne 400" panose="020B0503030303020204" pitchFamily="34" charset="0"/>
            </a:endParaRPr>
          </a:p>
        </p:txBody>
      </p:sp>
      <p:sp>
        <p:nvSpPr>
          <p:cNvPr id="11" name="CuadroTexto 10">
            <a:extLst>
              <a:ext uri="{FF2B5EF4-FFF2-40B4-BE49-F238E27FC236}">
                <a16:creationId xmlns:a16="http://schemas.microsoft.com/office/drawing/2014/main" id="{562984EA-0517-79FB-25E9-938C1EB36B16}"/>
              </a:ext>
            </a:extLst>
          </p:cNvPr>
          <p:cNvSpPr txBox="1"/>
          <p:nvPr/>
        </p:nvSpPr>
        <p:spPr>
          <a:xfrm>
            <a:off x="5290793" y="7270111"/>
            <a:ext cx="1313180" cy="461665"/>
          </a:xfrm>
          <a:prstGeom prst="rect">
            <a:avLst/>
          </a:prstGeom>
          <a:noFill/>
        </p:spPr>
        <p:txBody>
          <a:bodyPr wrap="none" rtlCol="0">
            <a:spAutoFit/>
          </a:bodyPr>
          <a:lstStyle/>
          <a:p>
            <a:r>
              <a:rPr lang="es-ES" sz="1200" dirty="0">
                <a:solidFill>
                  <a:schemeClr val="bg1">
                    <a:lumMod val="50000"/>
                  </a:schemeClr>
                </a:solidFill>
                <a:latin typeface="SamsungOne 400" panose="020B0503030303020204" pitchFamily="34" charset="0"/>
                <a:ea typeface="SamsungOne 400" panose="020B0503030303020204" pitchFamily="34" charset="0"/>
              </a:rPr>
              <a:t>Naranja #fc5a34</a:t>
            </a:r>
          </a:p>
          <a:p>
            <a:r>
              <a:rPr lang="es-ES" sz="1200" dirty="0" err="1">
                <a:solidFill>
                  <a:schemeClr val="bg1">
                    <a:lumMod val="50000"/>
                  </a:schemeClr>
                </a:solidFill>
                <a:latin typeface="SamsungOne 400" panose="020B0503030303020204" pitchFamily="34" charset="0"/>
                <a:ea typeface="SamsungOne 400" panose="020B0503030303020204" pitchFamily="34" charset="0"/>
              </a:rPr>
              <a:t>rgba</a:t>
            </a:r>
            <a:r>
              <a:rPr lang="es-ES" sz="1200" dirty="0">
                <a:solidFill>
                  <a:schemeClr val="bg1">
                    <a:lumMod val="50000"/>
                  </a:schemeClr>
                </a:solidFill>
                <a:latin typeface="SamsungOne 400" panose="020B0503030303020204" pitchFamily="34" charset="0"/>
                <a:ea typeface="SamsungOne 400" panose="020B0503030303020204" pitchFamily="34" charset="0"/>
              </a:rPr>
              <a:t>(252, 90, 52)</a:t>
            </a:r>
          </a:p>
        </p:txBody>
      </p:sp>
      <p:sp>
        <p:nvSpPr>
          <p:cNvPr id="12" name="CuadroTexto 11">
            <a:extLst>
              <a:ext uri="{FF2B5EF4-FFF2-40B4-BE49-F238E27FC236}">
                <a16:creationId xmlns:a16="http://schemas.microsoft.com/office/drawing/2014/main" id="{0223AF96-FC1D-45B2-C6D5-CA2C6334B038}"/>
              </a:ext>
            </a:extLst>
          </p:cNvPr>
          <p:cNvSpPr txBox="1"/>
          <p:nvPr/>
        </p:nvSpPr>
        <p:spPr>
          <a:xfrm>
            <a:off x="5361475" y="10921913"/>
            <a:ext cx="1313180" cy="646331"/>
          </a:xfrm>
          <a:prstGeom prst="rect">
            <a:avLst/>
          </a:prstGeom>
          <a:noFill/>
        </p:spPr>
        <p:txBody>
          <a:bodyPr wrap="square" rtlCol="0">
            <a:spAutoFit/>
          </a:bodyPr>
          <a:lstStyle/>
          <a:p>
            <a:r>
              <a:rPr lang="es-ES" sz="1200" dirty="0">
                <a:solidFill>
                  <a:schemeClr val="bg1">
                    <a:lumMod val="50000"/>
                  </a:schemeClr>
                </a:solidFill>
                <a:latin typeface="SamsungOne 400" panose="020B0503030303020204" pitchFamily="34" charset="0"/>
                <a:ea typeface="SamsungOne 400" panose="020B0503030303020204" pitchFamily="34" charset="0"/>
              </a:rPr>
              <a:t>Azul ##2a2c3c</a:t>
            </a:r>
          </a:p>
          <a:p>
            <a:r>
              <a:rPr lang="es-ES" sz="1200" dirty="0" err="1">
                <a:solidFill>
                  <a:schemeClr val="bg1">
                    <a:lumMod val="50000"/>
                  </a:schemeClr>
                </a:solidFill>
                <a:latin typeface="SamsungOne 400" panose="020B0503030303020204" pitchFamily="34" charset="0"/>
                <a:ea typeface="SamsungOne 400" panose="020B0503030303020204" pitchFamily="34" charset="0"/>
              </a:rPr>
              <a:t>rgba</a:t>
            </a:r>
            <a:r>
              <a:rPr lang="es-ES" sz="1200" dirty="0">
                <a:solidFill>
                  <a:schemeClr val="bg1">
                    <a:lumMod val="50000"/>
                  </a:schemeClr>
                </a:solidFill>
                <a:latin typeface="SamsungOne 400" panose="020B0503030303020204" pitchFamily="34" charset="0"/>
                <a:ea typeface="SamsungOne 400" panose="020B0503030303020204" pitchFamily="34" charset="0"/>
              </a:rPr>
              <a:t>(42, 44, 60)</a:t>
            </a:r>
          </a:p>
          <a:p>
            <a:endParaRPr lang="es-ES" sz="1200" dirty="0">
              <a:solidFill>
                <a:schemeClr val="bg1">
                  <a:lumMod val="50000"/>
                </a:schemeClr>
              </a:solidFill>
              <a:latin typeface="SamsungOne 400" panose="020B0503030303020204" pitchFamily="34" charset="0"/>
              <a:ea typeface="SamsungOne 400" panose="020B0503030303020204" pitchFamily="34" charset="0"/>
            </a:endParaRPr>
          </a:p>
        </p:txBody>
      </p:sp>
      <p:pic>
        <p:nvPicPr>
          <p:cNvPr id="14" name="Imagen 13">
            <a:extLst>
              <a:ext uri="{FF2B5EF4-FFF2-40B4-BE49-F238E27FC236}">
                <a16:creationId xmlns:a16="http://schemas.microsoft.com/office/drawing/2014/main" id="{FF73A58A-52CA-A134-28DB-C82D45F38A1B}"/>
              </a:ext>
            </a:extLst>
          </p:cNvPr>
          <p:cNvPicPr>
            <a:picLocks noChangeAspect="1"/>
          </p:cNvPicPr>
          <p:nvPr/>
        </p:nvPicPr>
        <p:blipFill>
          <a:blip r:embed="rId3">
            <a:alphaModFix amt="85000"/>
            <a:extLst>
              <a:ext uri="{28A0092B-C50C-407E-A947-70E740481C1C}">
                <a14:useLocalDpi xmlns:a14="http://schemas.microsoft.com/office/drawing/2010/main" val="0"/>
              </a:ext>
            </a:extLst>
          </a:blip>
          <a:srcRect/>
          <a:stretch/>
        </p:blipFill>
        <p:spPr>
          <a:xfrm>
            <a:off x="-1162230" y="4586566"/>
            <a:ext cx="9182459" cy="4149318"/>
          </a:xfrm>
          <a:prstGeom prst="rect">
            <a:avLst/>
          </a:prstGeom>
        </p:spPr>
      </p:pic>
      <p:sp>
        <p:nvSpPr>
          <p:cNvPr id="24" name="Rectángulo 23">
            <a:extLst>
              <a:ext uri="{FF2B5EF4-FFF2-40B4-BE49-F238E27FC236}">
                <a16:creationId xmlns:a16="http://schemas.microsoft.com/office/drawing/2014/main" id="{071859E6-3D2D-79B4-9E83-E4C3FBD6577F}"/>
              </a:ext>
            </a:extLst>
          </p:cNvPr>
          <p:cNvSpPr/>
          <p:nvPr/>
        </p:nvSpPr>
        <p:spPr>
          <a:xfrm>
            <a:off x="0" y="10180321"/>
            <a:ext cx="4843463" cy="2011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F898A9A0-9521-CB34-CF62-E008A1143B66}"/>
              </a:ext>
            </a:extLst>
          </p:cNvPr>
          <p:cNvSpPr txBox="1"/>
          <p:nvPr/>
        </p:nvSpPr>
        <p:spPr>
          <a:xfrm>
            <a:off x="735976" y="10338882"/>
            <a:ext cx="4042094" cy="2308324"/>
          </a:xfrm>
          <a:prstGeom prst="rect">
            <a:avLst/>
          </a:prstGeom>
          <a:noFill/>
        </p:spPr>
        <p:txBody>
          <a:bodyPr wrap="square" rtlCol="0">
            <a:spAutoFit/>
          </a:bodyPr>
          <a:lstStyle/>
          <a:p>
            <a:pPr marL="171450" indent="-171450">
              <a:lnSpc>
                <a:spcPct val="150000"/>
              </a:lnSpc>
              <a:buFont typeface="Wingdings" panose="05000000000000000000" pitchFamily="2" charset="2"/>
              <a:buChar char="q"/>
            </a:pPr>
            <a:r>
              <a:rPr lang="es-ES" sz="1200" dirty="0"/>
              <a:t>Blanco: fondo página, espaciado</a:t>
            </a:r>
          </a:p>
          <a:p>
            <a:pPr marL="171450" indent="-171450">
              <a:lnSpc>
                <a:spcPct val="150000"/>
              </a:lnSpc>
              <a:buFont typeface="Wingdings" panose="05000000000000000000" pitchFamily="2" charset="2"/>
              <a:buChar char="q"/>
            </a:pPr>
            <a:r>
              <a:rPr lang="es-ES" sz="1200" dirty="0"/>
              <a:t>Negro: para textos y botones (borde y relleno)</a:t>
            </a:r>
          </a:p>
          <a:p>
            <a:pPr marL="171450" indent="-171450">
              <a:lnSpc>
                <a:spcPct val="150000"/>
              </a:lnSpc>
              <a:buFont typeface="Wingdings" panose="05000000000000000000" pitchFamily="2" charset="2"/>
              <a:buChar char="q"/>
            </a:pPr>
            <a:r>
              <a:rPr lang="es-ES" sz="1200" dirty="0"/>
              <a:t>Gris para fondo de bloques de sliders y fotos de producto</a:t>
            </a:r>
          </a:p>
          <a:p>
            <a:pPr marL="171450" indent="-171450">
              <a:lnSpc>
                <a:spcPct val="150000"/>
              </a:lnSpc>
              <a:buFont typeface="Wingdings" panose="05000000000000000000" pitchFamily="2" charset="2"/>
              <a:buChar char="q"/>
            </a:pPr>
            <a:r>
              <a:rPr lang="es-ES" sz="1200" dirty="0"/>
              <a:t>Azul para resaltar información relevante (precio, descuentos, condiciones, enlaces)</a:t>
            </a:r>
          </a:p>
          <a:p>
            <a:endParaRPr lang="es-ES" sz="1200" dirty="0"/>
          </a:p>
          <a:p>
            <a:endParaRPr lang="es-ES" sz="1200" dirty="0"/>
          </a:p>
          <a:p>
            <a:endParaRPr lang="es-ES" sz="1200" dirty="0"/>
          </a:p>
        </p:txBody>
      </p:sp>
      <p:sp>
        <p:nvSpPr>
          <p:cNvPr id="13" name="Elipse 12">
            <a:extLst>
              <a:ext uri="{FF2B5EF4-FFF2-40B4-BE49-F238E27FC236}">
                <a16:creationId xmlns:a16="http://schemas.microsoft.com/office/drawing/2014/main" id="{D94466B2-E7A9-79BF-1738-4FBBDEF4BD9E}"/>
              </a:ext>
            </a:extLst>
          </p:cNvPr>
          <p:cNvSpPr/>
          <p:nvPr/>
        </p:nvSpPr>
        <p:spPr>
          <a:xfrm>
            <a:off x="5433499" y="8071668"/>
            <a:ext cx="838200" cy="838200"/>
          </a:xfrm>
          <a:prstGeom prst="ellipse">
            <a:avLst/>
          </a:prstGeom>
          <a:solidFill>
            <a:srgbClr val="F7F7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5261AE5E-9E3C-892C-24D4-A5F81811672E}"/>
              </a:ext>
            </a:extLst>
          </p:cNvPr>
          <p:cNvSpPr txBox="1"/>
          <p:nvPr/>
        </p:nvSpPr>
        <p:spPr>
          <a:xfrm>
            <a:off x="5297104" y="9155815"/>
            <a:ext cx="1425390" cy="461665"/>
          </a:xfrm>
          <a:prstGeom prst="rect">
            <a:avLst/>
          </a:prstGeom>
          <a:noFill/>
        </p:spPr>
        <p:txBody>
          <a:bodyPr wrap="none" rtlCol="0">
            <a:spAutoFit/>
          </a:bodyPr>
          <a:lstStyle/>
          <a:p>
            <a:r>
              <a:rPr lang="es-ES" sz="1200" dirty="0">
                <a:solidFill>
                  <a:schemeClr val="bg1">
                    <a:lumMod val="50000"/>
                  </a:schemeClr>
                </a:solidFill>
                <a:latin typeface="SamsungOne 400" panose="020B0503030303020204" pitchFamily="34" charset="0"/>
                <a:ea typeface="SamsungOne 400" panose="020B0503030303020204" pitchFamily="34" charset="0"/>
              </a:rPr>
              <a:t>Gris #bbbbbb</a:t>
            </a:r>
          </a:p>
          <a:p>
            <a:r>
              <a:rPr lang="es-ES" sz="1200" dirty="0" err="1">
                <a:solidFill>
                  <a:schemeClr val="bg1">
                    <a:lumMod val="50000"/>
                  </a:schemeClr>
                </a:solidFill>
                <a:latin typeface="SamsungOne 400" panose="020B0503030303020204" pitchFamily="34" charset="0"/>
                <a:ea typeface="SamsungOne 400" panose="020B0503030303020204" pitchFamily="34" charset="0"/>
              </a:rPr>
              <a:t>rgba</a:t>
            </a:r>
            <a:r>
              <a:rPr lang="es-ES" sz="1200" dirty="0">
                <a:solidFill>
                  <a:schemeClr val="bg1">
                    <a:lumMod val="50000"/>
                  </a:schemeClr>
                </a:solidFill>
                <a:latin typeface="SamsungOne 400" panose="020B0503030303020204" pitchFamily="34" charset="0"/>
                <a:ea typeface="SamsungOne 400" panose="020B0503030303020204" pitchFamily="34" charset="0"/>
              </a:rPr>
              <a:t>(187, 187, 187)</a:t>
            </a:r>
          </a:p>
        </p:txBody>
      </p:sp>
      <p:sp>
        <p:nvSpPr>
          <p:cNvPr id="20" name="Elipse 19">
            <a:extLst>
              <a:ext uri="{FF2B5EF4-FFF2-40B4-BE49-F238E27FC236}">
                <a16:creationId xmlns:a16="http://schemas.microsoft.com/office/drawing/2014/main" id="{E6BA5EA3-8516-D0D1-8628-EFDEEA0233E1}"/>
              </a:ext>
            </a:extLst>
          </p:cNvPr>
          <p:cNvSpPr/>
          <p:nvPr/>
        </p:nvSpPr>
        <p:spPr>
          <a:xfrm>
            <a:off x="7172400" y="8163108"/>
            <a:ext cx="838200" cy="838200"/>
          </a:xfrm>
          <a:prstGeom prst="ellipse">
            <a:avLst/>
          </a:prstGeom>
          <a:solidFill>
            <a:srgbClr val="F7F7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E4D1C5AC-2030-1E20-2077-1022665015ED}"/>
              </a:ext>
            </a:extLst>
          </p:cNvPr>
          <p:cNvSpPr txBox="1"/>
          <p:nvPr/>
        </p:nvSpPr>
        <p:spPr>
          <a:xfrm>
            <a:off x="7036005" y="9247255"/>
            <a:ext cx="1552028" cy="461665"/>
          </a:xfrm>
          <a:prstGeom prst="rect">
            <a:avLst/>
          </a:prstGeom>
          <a:noFill/>
        </p:spPr>
        <p:txBody>
          <a:bodyPr wrap="none" rtlCol="0">
            <a:spAutoFit/>
          </a:bodyPr>
          <a:lstStyle/>
          <a:p>
            <a:r>
              <a:rPr lang="es-ES" sz="1200" dirty="0">
                <a:solidFill>
                  <a:schemeClr val="bg1">
                    <a:lumMod val="50000"/>
                  </a:schemeClr>
                </a:solidFill>
                <a:latin typeface="SamsungOne 400" panose="020B0503030303020204" pitchFamily="34" charset="0"/>
                <a:ea typeface="SamsungOne 400" panose="020B0503030303020204" pitchFamily="34" charset="0"/>
              </a:rPr>
              <a:t>Gris fondo #f8f8f8</a:t>
            </a:r>
          </a:p>
          <a:p>
            <a:r>
              <a:rPr lang="es-ES" sz="1200" dirty="0" err="1">
                <a:solidFill>
                  <a:schemeClr val="bg1">
                    <a:lumMod val="50000"/>
                  </a:schemeClr>
                </a:solidFill>
                <a:latin typeface="SamsungOne 400" panose="020B0503030303020204" pitchFamily="34" charset="0"/>
                <a:ea typeface="SamsungOne 400" panose="020B0503030303020204" pitchFamily="34" charset="0"/>
              </a:rPr>
              <a:t>rgba</a:t>
            </a:r>
            <a:r>
              <a:rPr lang="es-ES" sz="1200" dirty="0">
                <a:solidFill>
                  <a:schemeClr val="bg1">
                    <a:lumMod val="50000"/>
                  </a:schemeClr>
                </a:solidFill>
                <a:latin typeface="SamsungOne 400" panose="020B0503030303020204" pitchFamily="34" charset="0"/>
                <a:ea typeface="SamsungOne 400" panose="020B0503030303020204" pitchFamily="34" charset="0"/>
              </a:rPr>
              <a:t>(248, 248, 248)</a:t>
            </a:r>
          </a:p>
        </p:txBody>
      </p:sp>
      <p:cxnSp>
        <p:nvCxnSpPr>
          <p:cNvPr id="23" name="Conector recto 22">
            <a:extLst>
              <a:ext uri="{FF2B5EF4-FFF2-40B4-BE49-F238E27FC236}">
                <a16:creationId xmlns:a16="http://schemas.microsoft.com/office/drawing/2014/main" id="{4CB0FD68-FC46-9809-D348-DEC5E75745FD}"/>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890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EEDB7-5B23-DEEC-67B8-0EAD3F2B1171}"/>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E7C25D70-403E-6CF6-3EB5-FB6EB220DAD0}"/>
              </a:ext>
            </a:extLst>
          </p:cNvPr>
          <p:cNvSpPr/>
          <p:nvPr/>
        </p:nvSpPr>
        <p:spPr>
          <a:xfrm>
            <a:off x="2292096" y="597877"/>
            <a:ext cx="4565903" cy="633046"/>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0B4F01DA-DBB5-9D53-987B-3A8911D6AFF6}"/>
              </a:ext>
            </a:extLst>
          </p:cNvPr>
          <p:cNvSpPr txBox="1"/>
          <p:nvPr/>
        </p:nvSpPr>
        <p:spPr>
          <a:xfrm>
            <a:off x="2392874" y="734127"/>
            <a:ext cx="1990417" cy="430887"/>
          </a:xfrm>
          <a:prstGeom prst="rect">
            <a:avLst/>
          </a:prstGeom>
          <a:noFill/>
        </p:spPr>
        <p:txBody>
          <a:bodyPr wrap="none" rtlCol="0">
            <a:spAutoFit/>
          </a:bodyPr>
          <a:lstStyle/>
          <a:p>
            <a:r>
              <a:rPr lang="es-ES" sz="2200" dirty="0">
                <a:solidFill>
                  <a:schemeClr val="bg1"/>
                </a:solidFill>
              </a:rPr>
              <a:t>ICONOGRAFÍA</a:t>
            </a:r>
          </a:p>
        </p:txBody>
      </p:sp>
      <p:sp>
        <p:nvSpPr>
          <p:cNvPr id="16" name="CuadroTexto 15">
            <a:extLst>
              <a:ext uri="{FF2B5EF4-FFF2-40B4-BE49-F238E27FC236}">
                <a16:creationId xmlns:a16="http://schemas.microsoft.com/office/drawing/2014/main" id="{246B5CB5-293E-9525-A702-851365E3416C}"/>
              </a:ext>
            </a:extLst>
          </p:cNvPr>
          <p:cNvSpPr txBox="1"/>
          <p:nvPr/>
        </p:nvSpPr>
        <p:spPr>
          <a:xfrm>
            <a:off x="443308" y="1700784"/>
            <a:ext cx="6140372" cy="461665"/>
          </a:xfrm>
          <a:prstGeom prst="rect">
            <a:avLst/>
          </a:prstGeom>
          <a:noFill/>
        </p:spPr>
        <p:txBody>
          <a:bodyPr wrap="square" rtlCol="0">
            <a:spAutoFit/>
          </a:bodyPr>
          <a:lstStyle/>
          <a:p>
            <a:r>
              <a:rPr lang="es-ES" sz="1200" dirty="0"/>
              <a:t>El uso de iconos es muy reducido. Se dan principalmente en negro, y en ocasiones puntuales en azul.</a:t>
            </a:r>
          </a:p>
        </p:txBody>
      </p:sp>
      <p:sp>
        <p:nvSpPr>
          <p:cNvPr id="2" name="CuadroTexto 1">
            <a:extLst>
              <a:ext uri="{FF2B5EF4-FFF2-40B4-BE49-F238E27FC236}">
                <a16:creationId xmlns:a16="http://schemas.microsoft.com/office/drawing/2014/main" id="{1279D3F7-22F4-09F5-87B6-A0B14B45EC8C}"/>
              </a:ext>
            </a:extLst>
          </p:cNvPr>
          <p:cNvSpPr txBox="1"/>
          <p:nvPr/>
        </p:nvSpPr>
        <p:spPr>
          <a:xfrm>
            <a:off x="891619" y="3251429"/>
            <a:ext cx="2552815" cy="369332"/>
          </a:xfrm>
          <a:prstGeom prst="rect">
            <a:avLst/>
          </a:prstGeom>
          <a:noFill/>
        </p:spPr>
        <p:txBody>
          <a:bodyPr wrap="none" rtlCol="0">
            <a:spAutoFit/>
          </a:bodyPr>
          <a:lstStyle/>
          <a:p>
            <a:r>
              <a:rPr lang="es-ES" dirty="0"/>
              <a:t>Funciones e-</a:t>
            </a:r>
            <a:r>
              <a:rPr lang="es-ES" dirty="0" err="1"/>
              <a:t>commerce</a:t>
            </a:r>
            <a:endParaRPr lang="es-ES" dirty="0"/>
          </a:p>
        </p:txBody>
      </p:sp>
      <p:sp>
        <p:nvSpPr>
          <p:cNvPr id="5" name="CuadroTexto 4">
            <a:extLst>
              <a:ext uri="{FF2B5EF4-FFF2-40B4-BE49-F238E27FC236}">
                <a16:creationId xmlns:a16="http://schemas.microsoft.com/office/drawing/2014/main" id="{15821793-D05F-4BA7-4FB8-57B6D3772E76}"/>
              </a:ext>
            </a:extLst>
          </p:cNvPr>
          <p:cNvSpPr txBox="1"/>
          <p:nvPr/>
        </p:nvSpPr>
        <p:spPr>
          <a:xfrm>
            <a:off x="2700589" y="5715345"/>
            <a:ext cx="1168386" cy="646331"/>
          </a:xfrm>
          <a:prstGeom prst="rect">
            <a:avLst/>
          </a:prstGeom>
          <a:noFill/>
        </p:spPr>
        <p:txBody>
          <a:bodyPr wrap="square" rtlCol="0">
            <a:spAutoFit/>
          </a:bodyPr>
          <a:lstStyle/>
          <a:p>
            <a:pPr algn="ctr"/>
            <a:r>
              <a:rPr lang="es-ES" b="1" dirty="0">
                <a:solidFill>
                  <a:srgbClr val="0000FF"/>
                </a:solidFill>
              </a:rPr>
              <a:t>Refuerzo visual</a:t>
            </a:r>
          </a:p>
        </p:txBody>
      </p:sp>
      <p:sp>
        <p:nvSpPr>
          <p:cNvPr id="6" name="CuadroTexto 5">
            <a:extLst>
              <a:ext uri="{FF2B5EF4-FFF2-40B4-BE49-F238E27FC236}">
                <a16:creationId xmlns:a16="http://schemas.microsoft.com/office/drawing/2014/main" id="{EB716F52-78E7-CF91-9990-4B9C8EEE8AB8}"/>
              </a:ext>
            </a:extLst>
          </p:cNvPr>
          <p:cNvSpPr txBox="1"/>
          <p:nvPr/>
        </p:nvSpPr>
        <p:spPr>
          <a:xfrm>
            <a:off x="891619" y="9213200"/>
            <a:ext cx="723275" cy="369332"/>
          </a:xfrm>
          <a:prstGeom prst="rect">
            <a:avLst/>
          </a:prstGeom>
          <a:noFill/>
        </p:spPr>
        <p:txBody>
          <a:bodyPr wrap="none" rtlCol="0">
            <a:spAutoFit/>
          </a:bodyPr>
          <a:lstStyle/>
          <a:p>
            <a:r>
              <a:rPr lang="es-ES" dirty="0">
                <a:solidFill>
                  <a:schemeClr val="tx1">
                    <a:lumMod val="95000"/>
                    <a:lumOff val="5000"/>
                  </a:schemeClr>
                </a:solidFill>
              </a:rPr>
              <a:t>RRSS</a:t>
            </a:r>
          </a:p>
        </p:txBody>
      </p:sp>
      <p:cxnSp>
        <p:nvCxnSpPr>
          <p:cNvPr id="35" name="Conector recto 34">
            <a:extLst>
              <a:ext uri="{FF2B5EF4-FFF2-40B4-BE49-F238E27FC236}">
                <a16:creationId xmlns:a16="http://schemas.microsoft.com/office/drawing/2014/main" id="{3EE47206-BD12-1DB7-C441-7C7EB475EF39}"/>
              </a:ext>
            </a:extLst>
          </p:cNvPr>
          <p:cNvCxnSpPr>
            <a:cxnSpLocks/>
          </p:cNvCxnSpPr>
          <p:nvPr/>
        </p:nvCxnSpPr>
        <p:spPr>
          <a:xfrm>
            <a:off x="891619" y="8000896"/>
            <a:ext cx="5033693"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7A41D152-06F9-DF7D-15E4-C3BE9E22CF59}"/>
              </a:ext>
            </a:extLst>
          </p:cNvPr>
          <p:cNvCxnSpPr>
            <a:cxnSpLocks/>
          </p:cNvCxnSpPr>
          <p:nvPr/>
        </p:nvCxnSpPr>
        <p:spPr>
          <a:xfrm>
            <a:off x="891619" y="4422544"/>
            <a:ext cx="5033693"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
        <p:nvSpPr>
          <p:cNvPr id="40" name="Marcador de número de diapositiva 39">
            <a:extLst>
              <a:ext uri="{FF2B5EF4-FFF2-40B4-BE49-F238E27FC236}">
                <a16:creationId xmlns:a16="http://schemas.microsoft.com/office/drawing/2014/main" id="{589A559F-F2B9-BAE5-BB1D-B5462319BA6E}"/>
              </a:ext>
            </a:extLst>
          </p:cNvPr>
          <p:cNvSpPr>
            <a:spLocks noGrp="1"/>
          </p:cNvSpPr>
          <p:nvPr>
            <p:ph type="sldNum" sz="quarter" idx="12"/>
          </p:nvPr>
        </p:nvSpPr>
        <p:spPr/>
        <p:txBody>
          <a:bodyPr/>
          <a:lstStyle/>
          <a:p>
            <a:fld id="{3CDA0B52-2607-45F8-B315-1CB26DB638C1}" type="slidenum">
              <a:rPr lang="es-ES" smtClean="0"/>
              <a:t>10</a:t>
            </a:fld>
            <a:endParaRPr lang="es-ES"/>
          </a:p>
        </p:txBody>
      </p:sp>
      <p:cxnSp>
        <p:nvCxnSpPr>
          <p:cNvPr id="8" name="Conector recto 7">
            <a:extLst>
              <a:ext uri="{FF2B5EF4-FFF2-40B4-BE49-F238E27FC236}">
                <a16:creationId xmlns:a16="http://schemas.microsoft.com/office/drawing/2014/main" id="{4C750224-4307-B170-E06A-2802A04F30DC}"/>
              </a:ext>
            </a:extLst>
          </p:cNvPr>
          <p:cNvCxnSpPr>
            <a:cxnSpLocks/>
          </p:cNvCxnSpPr>
          <p:nvPr/>
        </p:nvCxnSpPr>
        <p:spPr>
          <a:xfrm>
            <a:off x="0" y="1230923"/>
            <a:ext cx="6858000" cy="0"/>
          </a:xfrm>
          <a:prstGeom prst="line">
            <a:avLst/>
          </a:prstGeom>
          <a:ln>
            <a:solidFill>
              <a:srgbClr val="FC5A3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197238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558</TotalTime>
  <Words>1468</Words>
  <Application>Microsoft Office PowerPoint</Application>
  <PresentationFormat>Panorámica</PresentationFormat>
  <Paragraphs>120</Paragraphs>
  <Slides>10</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Aptos</vt:lpstr>
      <vt:lpstr>Aptos Display</vt:lpstr>
      <vt:lpstr>Arial</vt:lpstr>
      <vt:lpstr>Samsung Sharp Sans</vt:lpstr>
      <vt:lpstr>SamsungOne 400</vt:lpstr>
      <vt:lpstr>Wingdings</vt:lpstr>
      <vt:lpstr>Tema de Office</vt:lpstr>
      <vt:lpstr>APAR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Asensi</dc:creator>
  <cp:lastModifiedBy>Fernando  Asensi</cp:lastModifiedBy>
  <cp:revision>39</cp:revision>
  <dcterms:created xsi:type="dcterms:W3CDTF">2025-09-28T03:58:10Z</dcterms:created>
  <dcterms:modified xsi:type="dcterms:W3CDTF">2026-09-22T08:23:51Z</dcterms:modified>
</cp:coreProperties>
</file>